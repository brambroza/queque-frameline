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5" r:id="rId1"/>
  </p:sldMasterIdLst>
  <p:notesMasterIdLst>
    <p:notesMasterId r:id="rId31"/>
  </p:notesMasterIdLst>
  <p:sldIdLst>
    <p:sldId id="304" r:id="rId2"/>
    <p:sldId id="286" r:id="rId3"/>
    <p:sldId id="258" r:id="rId4"/>
    <p:sldId id="287" r:id="rId5"/>
    <p:sldId id="260" r:id="rId6"/>
    <p:sldId id="296" r:id="rId7"/>
    <p:sldId id="305" r:id="rId8"/>
    <p:sldId id="263" r:id="rId9"/>
    <p:sldId id="264" r:id="rId10"/>
    <p:sldId id="306" r:id="rId11"/>
    <p:sldId id="266" r:id="rId12"/>
    <p:sldId id="267" r:id="rId13"/>
    <p:sldId id="307" r:id="rId14"/>
    <p:sldId id="269" r:id="rId15"/>
    <p:sldId id="288" r:id="rId16"/>
    <p:sldId id="271" r:id="rId17"/>
    <p:sldId id="272" r:id="rId18"/>
    <p:sldId id="292" r:id="rId19"/>
    <p:sldId id="289" r:id="rId20"/>
    <p:sldId id="275" r:id="rId21"/>
    <p:sldId id="308" r:id="rId22"/>
    <p:sldId id="277" r:id="rId23"/>
    <p:sldId id="290" r:id="rId24"/>
    <p:sldId id="279" r:id="rId25"/>
    <p:sldId id="309" r:id="rId26"/>
    <p:sldId id="281" r:id="rId27"/>
    <p:sldId id="291" r:id="rId28"/>
    <p:sldId id="283" r:id="rId29"/>
    <p:sldId id="310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ภาพรวม" id="{67A6A93E-AD7F-AB8C-015E-45877195CB48}">
          <p14:sldIdLst>
            <p14:sldId id="304"/>
            <p14:sldId id="286"/>
            <p14:sldId id="258"/>
            <p14:sldId id="287"/>
            <p14:sldId id="260"/>
            <p14:sldId id="296"/>
            <p14:sldId id="305"/>
          </p14:sldIdLst>
        </p14:section>
        <p14:section name="ฝ่ายขาย · จัดซื้อ" id="{0428B52A-E1C2-2317-831F-B281F4B4CF24}">
          <p14:sldIdLst>
            <p14:sldId id="263"/>
            <p14:sldId id="264"/>
            <p14:sldId id="306"/>
            <p14:sldId id="266"/>
            <p14:sldId id="267"/>
            <p14:sldId id="307"/>
          </p14:sldIdLst>
        </p14:section>
        <p14:section name="ทีมคลัง" id="{17B57934-42B8-3F0A-C2BA-3CD2BB37A95C}">
          <p14:sldIdLst>
            <p14:sldId id="269"/>
            <p14:sldId id="288"/>
            <p14:sldId id="271"/>
            <p14:sldId id="272"/>
            <p14:sldId id="292"/>
            <p14:sldId id="289"/>
            <p14:sldId id="275"/>
            <p14:sldId id="308"/>
          </p14:sldIdLst>
        </p14:section>
        <p14:section name="ผู้จัดการ · ผู้บริหาร · Admin" id="{8F9C04DD-F2A8-86D5-E070-B442F62AE57F}">
          <p14:sldIdLst>
            <p14:sldId id="277"/>
            <p14:sldId id="290"/>
            <p14:sldId id="279"/>
            <p14:sldId id="309"/>
          </p14:sldIdLst>
        </p14:section>
        <p14:section name="LINE และฝึกปฏิบัติ" id="{E1EE0DEC-B947-EEFC-85EF-C74033F9757C}">
          <p14:sldIdLst>
            <p14:sldId id="281"/>
            <p14:sldId id="291"/>
            <p14:sldId id="283"/>
            <p14:sldId id="3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79"/>
    <p:restoredTop sz="82181"/>
  </p:normalViewPr>
  <p:slideViewPr>
    <p:cSldViewPr snapToGrid="0" snapToObjects="1">
      <p:cViewPr varScale="1">
        <p:scale>
          <a:sx n="145" d="100"/>
          <a:sy n="145" d="100"/>
        </p:scale>
        <p:origin x="1896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70201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เป้าหมายสำหรับวันนี้แนะนำการใช้งาน และให้เข้าใจ </a:t>
            </a:r>
            <a:r>
              <a:rPr lang="th-TH" dirty="0" err="1"/>
              <a:t>f</a:t>
            </a:r>
            <a:r>
              <a:rPr lang="en-US" dirty="0"/>
              <a:t>low </a:t>
            </a:r>
            <a:r>
              <a:rPr lang="th-TH" dirty="0"/>
              <a:t>การทำงานเบื้องต้นก่อนนะครับ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บทบาทและหัวข้อ การทำงาน</a:t>
            </a:r>
            <a:br>
              <a:rPr lang="en-US" dirty="0"/>
            </a:br>
            <a:br>
              <a:rPr lang="en-US" dirty="0"/>
            </a:br>
            <a:r>
              <a:rPr lang="th-TH" dirty="0"/>
              <a:t>ฝ่ายขาย </a:t>
            </a:r>
            <a:br>
              <a:rPr lang="th-TH" dirty="0"/>
            </a:br>
            <a:r>
              <a:rPr lang="th-TH" dirty="0"/>
              <a:t>ฝ่ายจัดซื้อ</a:t>
            </a:r>
            <a:br>
              <a:rPr lang="th-TH" dirty="0"/>
            </a:br>
            <a:r>
              <a:rPr lang="th-TH" dirty="0"/>
              <a:t>ทีมคลัง</a:t>
            </a:r>
            <a:br>
              <a:rPr lang="th-TH" dirty="0"/>
            </a:br>
            <a:r>
              <a:rPr lang="th-TH" dirty="0"/>
              <a:t>ผู้จัดการ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 err="1"/>
              <a:t>f</a:t>
            </a:r>
            <a:r>
              <a:rPr lang="en-US" dirty="0"/>
              <a:t>low </a:t>
            </a:r>
            <a:r>
              <a:rPr lang="th-TH" dirty="0"/>
              <a:t>การทำงาน ของระบบจองคิว </a:t>
            </a:r>
            <a:br>
              <a:rPr lang="th-TH" dirty="0"/>
            </a:br>
            <a:r>
              <a:rPr lang="th-TH" dirty="0"/>
              <a:t>เริ่มจาก คีย์ </a:t>
            </a:r>
            <a:r>
              <a:rPr lang="en-US" dirty="0"/>
              <a:t>so </a:t>
            </a:r>
            <a:r>
              <a:rPr lang="th-TH" dirty="0"/>
              <a:t>หรือ </a:t>
            </a:r>
            <a:r>
              <a:rPr lang="en-US" dirty="0"/>
              <a:t>po </a:t>
            </a:r>
            <a:r>
              <a:rPr lang="th-TH" dirty="0"/>
              <a:t>จนถึงขึ้นลงของ ปิดงาน </a:t>
            </a:r>
          </a:p>
          <a:p>
            <a:r>
              <a:rPr lang="en-US" dirty="0"/>
              <a:t>1. </a:t>
            </a:r>
            <a:endParaRPr lang="th-TH" dirty="0"/>
          </a:p>
          <a:p>
            <a:r>
              <a:rPr lang="en-US" dirty="0"/>
              <a:t>2.</a:t>
            </a:r>
          </a:p>
          <a:p>
            <a:r>
              <a:rPr lang="en-US" dirty="0"/>
              <a:t>3.</a:t>
            </a:r>
          </a:p>
          <a:p>
            <a:r>
              <a:rPr lang="en-US" dirty="0"/>
              <a:t>4.</a:t>
            </a:r>
          </a:p>
          <a:p>
            <a:r>
              <a:rPr lang="en-US" dirty="0"/>
              <a:t>5.</a:t>
            </a:r>
          </a:p>
          <a:p>
            <a:r>
              <a:rPr lang="en-US" dirty="0"/>
              <a:t>6.</a:t>
            </a:r>
          </a:p>
          <a:p>
            <a:r>
              <a:rPr lang="en-US" dirty="0"/>
              <a:t>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สิทธิ์มี 4 ระดับ: admin, manager (ผู้จัดการคลัง), staff (แอดมินขาย จัดซื้อ แอดมินคลัง) และ viewer (ผู้บริหาร ดูอย่างเดียว) ถ้าใครหาเมนูไม่เจอ ให้ตรวจสิทธิ์กับผู้ดูแลระบบ แต่ละ role จำกัดสาขาได้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สถานะ คิว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ตัวอย่าง เมล ที่ ผู้ใช้งานจะเห็นครั้งแรกหลังจาก </a:t>
            </a:r>
            <a:r>
              <a:rPr lang="en-US" dirty="0"/>
              <a:t>admin </a:t>
            </a:r>
            <a:r>
              <a:rPr lang="th-TH" dirty="0"/>
              <a:t>เชิญเช้าใช้ระบบ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ช่วงนี้ใช้ตัวอย่าง SO เป็นหลัก PO ทำเหมือนกันทุกขั้น ต่างกันที่ไม่มีการชำระเงิน และกรอกรายการสินค้าได้ (ไม่บังคับ) ซึ่งช่วยให้คลังประเมินเวลาที่ท่า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หน้าทำงานหลักของฝ่ายขาย ค้นหาจากเลขที่หรือชื่อลูกค้า กรองตามการชำระเงินและสถานะ ปุ่มลบใช้ได้เฉพาะเอกสารที่ยังไม่มีคิว เอกสารที่มาจาก ERP ถ้าแก้ที่หน้านี้ ค่าจะถูกทับเมื่อ ERP ส่งเลขเดิมมาอีก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สาขาสำคัญที่สุด เพราะลูกค้าเห็นเฉพาะท่าและเวลาทำการของสาขาที่เลือก และเปลี่ยนสาขาไม่ได้ขณะยังมีคิวที่ไม่ปิด PO มีปุ่มเพิ่มรายการสินค้า (ไม่บังคับ) ยิ่งใส่รายการ คลังยิ่งประเมินเวลาที่ท่าได้แม่น ถ้าเชื่อม ERP แล้ว เอกสารจะเข้ามาเอง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จุดที่พลาดบ่อยที่สุด: ลูกค้าจองแล้ว คลังกดอนุมัติไม่ได้ เพราะฝ่ายขายยังไม่บันทึกการชำระ ถ้าเปิดยกเลิกคิวที่ยังไม่ชำระอัตโนมัติไว้ คิวที่ลูกค้าจองเองจะถูกยกเลิกเมื่อครบเวลา โดยลูกค้าได้คำเตือนก่อน 1 ครั้ง PO ไม่มีกติกานี้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ลิงก์และ QR แสดงซ้ำได้เสมอ ไม่ต้องสร้างใหม่ทุกครั้ง แนะนำให้ลูกค้าเปิดลิงก์ผ่าน LINE ครั้งแรก ระบบจะผูกบัญชี LINE กับเอกสาร แล้วลูกค้าได้แจ้งเตือนทุกครั้งที่คิวเปลี่ยน เอกสารที่ปิดหรือยกเลิกแล้วจองไม่ได้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ใช้ตอบลูกค้าที่โทรมาถามว่าจองยังไง ไม่ต้องล็อกอิน ไม่ต้องลงแอป ช่องบังคับมี 3 ช่อง ทะเบียน ชื่อคนขับ เบอร์คนขับ ถ้าต้องการเลื่อนวันหรือเวลาหลังจอง ให้ติดต่อคลัง รับหลายเที่ยวได้ด้วยปุ่มจองคิวเพิ่ม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ช่วงที่ยาวที่สุด ให้ผู้เข้าอบรมเปิดบอร์ดคิวบนเครื่องตัวเองตามไปด้วย ถ้ามีจอ TV หน้าลาน เปิดจอคิวคู่กันจะเห็นผลทันทีเมื่อกดเรียก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ปุ่มเวลาที่ชนคิวอื่นเป็นสีเทา กดไม่ได้ เส้นแดงคือเวลาที่ต้องจบก่อนคิวถัดไป (รวมเวลาเผื่อ turnaround) หลังอนุมัติ ระบบส่งเลข DO และลิงก์คนขับให้คู่ค้าทาง LINE อัตโนมัติถ้าผูกไว้ SO ที่ยังไม่ชำระกดอนุมัติไม่ได้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บอร์ดคิวคือหน้าที่ทีมคลังเปิดค้างไว้ทั้งวัน ปุ่มสีเขียวคือขั้นถัดไปเสมอ ปุ่มรอง: ไม่มา เรียกซ้ำ ยกเลิกการเรียก (ให้คันอื่นเข้าก่อน) สวิตช์เรียกอัตโนมัติด้านบน ถ้าเปิด ระบบเรียกคันถัดไปที่เช็คอินแล้วทันทีที่ท่าว่าง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การลงชื่อไม่บังคับ แต่แนะนำให้ทำทุกคันเป็นหลักฐาน ช่องที่มีลายเซ็นต้องมีชื่อผู้ลงชื่อ ปิดงานแล้วท่าว่าง ระบบเรียกคิวถัดไปถ้าเปิดเรียกอัตโนมัติ ใช้ได้ดีบน iPad หรือแท็บเล็ตหน้าท่า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Walk-in รวมการจอง ออก DO และเช็คอินไว้ในขั้นตอนเดียว ฝ่ายขายและจัดซื้อใช้จากปุ่มรูปรถที่แถวเอกสาร คลังใช้จากบอร์ดคิว ช่องต่อท้าย (ส้ม) โผล่เฉพาะเมื่อเวลาทำการเต็ม เวลาเป็นเวลาโดยประมาณ คลังต้องพร้อมทำงานเกินเวลาปิด SO ที่ยังไม่ชำระ Walk-in จะเป็นรอยืนยันก่อน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มี 2 มุมมองสลับได้ เลือกช่องเวลา (ตาราง เวลา x ท่า เหมาะกับมือใหม่) และบอร์ด (ลาก) ลากขอบล่างของบล็อกเพื่อยืดหรือหดเวลาที่ท่า บล็อกสีแดงคือชนคิวอื่น ปุ่มบันทึกจะปิด คู่ค้าได้แจ้งเตือนทาง LINE เมื่อคิวถูกเลื่อน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ค่าเริ่มต้น: เวลาเผื่อ 30 นาที เรียกแล้วไม่เข้าท่า 15 นาที ผู้จัดการคลังปรับได้ที่ตั้งค่าระบบคิว คู่ค้ายกเลิกเองจากลิงก์ได้ก่อนรถมาถึง คลังยกเลิกแทนได้แต่ต้องระบุเหตุผล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จอ TV ไม่ต้องล็อกอิน อัปเดตเองทุก 5 วินาที ไม่แสดงเบอร์โทร URL ทุกสาขาในจอเดียวใช้กับห้องควบคุมเท่านั้น หน้าคนขับมีปุ่ม ฉันมาถึงแล้ว เช็คอิน ระบบตรวจว่าอยู่ในรัศมีคลัง และมีปุ่มเปิดแจ้งเตือนบนมือถือสำหรับคนขับที่ไม่ใช้ 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ผู้บริหารดูอย่างเดียว แก้ข้อมูลไม่ได้ ผู้จัดการคลังตั้งค่าคลังได้ (ประเภทรถ ท่า เวลาทำการ วันหยุด คู่ค้า ตั้งค่าระบบคิว) แต่จัดการพนักงานและสิทธิ์ไม่ได้ ส่วนนั้นเป็นของผู้ดูแลระบบ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ตัวกรองด้านบน: ช่วงเวลา สาขา และขาออก/ขาเข้า มีผลกับทั้ง 2 แท็บและไฟล์ export ลูกศรเขียว/แดงคือเทียบกับช่วงก่อนหน้า ไฟล์ Excel มีแผ่น KPI คลัง ท่า เวลาตามประเภทรถ คิวล่าช้า และภาพรวมคิว ตัวเลขบนภาพเป็นข้อมูลตัวอย่าง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เพิ่มพนักงานที่ปุ่ม เพิ่มพนักงาน ระบบส่งอีเมลเชิญ พนักงาน 1 คนมี 1 สิทธิ์ แท็บ สิทธิ์และเมนู กำหนดระดับ เมนูที่เห็น สาขาที่เข้าถึง และสิทธิ์ส่งออกข้อมูล สร้างสิทธิ์ใหม่เองได้ เช่น ป้อมยาม เห็นแค่บอร์ดคิว ต้องเหลือ admin อย่างน้อย 1 คน คนลาออกให้ปิดบัญชีทันที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ลำดับนี้สำคัญ เพราะท่าและเวลาทำการผูกกับสาขา ต้องมีสาขาก่อน ข้อ 9 ให้ทำจริงทุกขั้นกับเอกสารทดสอบ แล้วลบเอกสารทดสอบ เมนูประวัติการใช้งานดูได้เฉพาะผู้ดูแลระบบ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ใครมี LINE บนมือถือ ให้เพิ่มเพื่อน OA ของคลังตอนนี้เลย เพื่อใช้ในช่วงฝึกปฏิบัติ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ขั้น 2 สำคัญที่สุด การเปิดลิงก์ผ่าน LINE ครั้งแรกคือการผูกบัญชี ถ้าเปิดใน Chrome หรือ Safari ยังจองได้แต่ไม่ได้แจ้งเตือน ให้กดแถบเปิดใน LINE คนขับได้แจ้งเตือนเมื่อเปิดลิงก์คนขับผ่าน LINE และเป็นเพื่อนกับ OA พิมพ์ คิว SO หรือ ติดต่อ ในแชทได้ผลเหมือนกดเมนู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ผู้ดูแลระบบเชิญ OA เข้ากลุ่ม แล้วพิมพ์ ลงทะเบียนกลุ่ม ในกลุ่ม 1 ครั้ง ใช้กลุ่มนี้เป็นช่องแจ้งเตือนเท่านั้น คุยงานในกลุ่มอื่น แผนฟรีของ LINE ส่งได้ 200 ข้อความต่อเดือน ถ้าปริมาณคิวมาก ต้องพิจารณาแพ็กเกจ 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ใช้เอกสารชื่อขึ้นต้น SO-TEST เพื่อลบทิ้งง่ายหลังอบรม ลองให้คลังกดอนุมัติก่อนฝ่ายขายบันทึกชำระ เพื่อให้เห็นว่าระบบไม่ยอม แล้วค่อยบันทึกชำระ ถ้ามีเวลาเหลือ ลองเลื่อนคิวด้วยจัดตารางคิว และลองปุ่มแจ้งปัญหามุมซ้ายล่าง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เปิดถามตอบ จดคำถามที่ตอบไม่ได้ไว้ตามต่อ แจกคู่มือ PDF ตามบทบาท ความต้องการใหม่นอกขอบเขตเดิม ให้แจ้งผ่านผู้ประสานงาน เพื่อประเมินเป็น Change Request ไม่ใช่สั่งแก้ผ่านปุ่มแจ้งปัญหา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Footer"/>
          <p:cNvGrpSpPr/>
          <p:nvPr userDrawn="1"/>
        </p:nvGrpSpPr>
        <p:grpSpPr>
          <a:xfrm>
            <a:off x="731519" y="6254495"/>
            <a:ext cx="10728930" cy="416053"/>
            <a:chOff x="731519" y="6254495"/>
            <a:chExt cx="10728930" cy="416053"/>
          </a:xfrm>
        </p:grpSpPr>
        <p:sp>
          <p:nvSpPr>
            <p:cNvPr id="3" name="Footer Rule"/>
            <p:cNvSpPr/>
            <p:nvPr userDrawn="1"/>
          </p:nvSpPr>
          <p:spPr>
            <a:xfrm>
              <a:off x="731520" y="6254496"/>
              <a:ext cx="10728929" cy="20116"/>
            </a:xfrm>
            <a:prstGeom prst="rect">
              <a:avLst/>
            </a:prstGeom>
            <a:solidFill>
              <a:srgbClr val="DDE5DF"/>
            </a:solidFill>
            <a:ln>
              <a:noFill/>
            </a:ln>
          </p:spPr>
          <p:txBody>
            <a:bodyPr/>
            <a:lstStyle/>
            <a:p>
              <a:endParaRPr lang="en-TH"/>
            </a:p>
          </p:txBody>
        </p:sp>
        <p:sp>
          <p:nvSpPr>
            <p:cNvPr id="4" name="Footer Accent"/>
            <p:cNvSpPr/>
            <p:nvPr userDrawn="1"/>
          </p:nvSpPr>
          <p:spPr>
            <a:xfrm>
              <a:off x="731519" y="6254495"/>
              <a:ext cx="1375955" cy="45719"/>
            </a:xfrm>
            <a:prstGeom prst="rect">
              <a:avLst/>
            </a:prstGeom>
            <a:solidFill>
              <a:srgbClr val="1B5E3F"/>
            </a:solidFill>
            <a:ln>
              <a:noFill/>
            </a:ln>
          </p:spPr>
          <p:txBody>
            <a:bodyPr/>
            <a:lstStyle/>
            <a:p>
              <a:endParaRPr lang="en-TH"/>
            </a:p>
          </p:txBody>
        </p:sp>
        <p:pic>
          <p:nvPicPr>
            <p:cNvPr id="5" name="Footer Logo" descr="Go Along logo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731520" y="6454610"/>
              <a:ext cx="237744" cy="166699"/>
            </a:xfrm>
            <a:prstGeom prst="rect">
              <a:avLst/>
            </a:prstGeom>
          </p:spPr>
        </p:pic>
        <p:sp>
          <p:nvSpPr>
            <p:cNvPr id="6" name="Footer Company"/>
            <p:cNvSpPr txBox="1"/>
            <p:nvPr userDrawn="1"/>
          </p:nvSpPr>
          <p:spPr>
            <a:xfrm>
              <a:off x="1060704" y="6451092"/>
              <a:ext cx="3657600" cy="219456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 b="1" spc="40" dirty="0">
                  <a:solidFill>
                    <a:srgbClr val="1B5E3F"/>
                  </a:solidFill>
                  <a:latin typeface="IBM Plex Sans Thai"/>
                  <a:ea typeface="IBM Plex Sans Thai"/>
                  <a:cs typeface="IBM Plex Sans Thai"/>
                </a:rPr>
                <a:t>Go Along Co., Ltd.</a:t>
              </a:r>
            </a:p>
          </p:txBody>
        </p:sp>
      </p:grpSp>
      <p:sp>
        <p:nvSpPr>
          <p:cNvPr id="7" name="Footer Page Number"/>
          <p:cNvSpPr txBox="1"/>
          <p:nvPr userDrawn="1"/>
        </p:nvSpPr>
        <p:spPr>
          <a:xfrm>
            <a:off x="9997409" y="6451092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fld id="{6F1C2A3B-9D4E-4B8A-A1C2-3E5F7A9B0C11}" type="slidenum">
              <a:rPr lang="en-US" sz="950" b="1" spc="40" dirty="0">
                <a:solidFill>
                  <a:srgbClr val="8A9490"/>
                </a:solidFill>
                <a:latin typeface="IBM Plex Sans Thai"/>
                <a:ea typeface="IBM Plex Sans Thai"/>
                <a:cs typeface="IBM Plex Sans Thai"/>
              </a:rPr>
              <a:t>‹#›</a:t>
            </a:fld>
            <a:endParaRPr lang="en-US" sz="950" b="1" spc="40" dirty="0">
              <a:solidFill>
                <a:srgbClr val="8A9490"/>
              </a:solidFill>
              <a:latin typeface="IBM Plex Sans Thai"/>
              <a:ea typeface="IBM Plex Sans Thai"/>
              <a:cs typeface="IBM Plex Sans Tha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">
    <p:bg>
      <p:bgPr>
        <a:solidFill>
          <a:srgbClr val="002C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09728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ADC32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 txBox="1"/>
          <p:nvPr/>
        </p:nvSpPr>
        <p:spPr>
          <a:xfrm>
            <a:off x="685800" y="1097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71E"/>
                </a:solidFill>
              </a:rPr>
              <a:t>อบรมผู้ใช้งาน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200" b="1" dirty="0">
                <a:solidFill>
                  <a:srgbClr val="F4FAF6"/>
                </a:solidFill>
                <a:latin typeface="IBM Plex Sans Thai" panose="020B0503050203000203" pitchFamily="34" charset="-34"/>
                <a:cs typeface="IBM Plex Sans Thai" panose="020B0503050203000203" pitchFamily="34" charset="-34"/>
              </a:rPr>
              <a:t>Fameline</a:t>
            </a:r>
            <a:endParaRPr lang="en-US" sz="5200" dirty="0">
              <a:latin typeface="IBM Plex Sans Thai" panose="020B0503050203000203" pitchFamily="34" charset="-34"/>
              <a:cs typeface="IBM Plex Sans Thai" panose="020B0503050203000203" pitchFamily="34" charset="-34"/>
            </a:endParaRPr>
          </a:p>
          <a:p>
            <a:pPr marL="0" indent="0">
              <a:buNone/>
            </a:pPr>
            <a:r>
              <a:rPr lang="en-US" sz="5200" b="1" dirty="0">
                <a:solidFill>
                  <a:srgbClr val="F4FAF6"/>
                </a:solidFill>
                <a:latin typeface="IBM Plex Sans Thai" panose="020B0503050203000203" pitchFamily="34" charset="-34"/>
                <a:cs typeface="IBM Plex Sans Thai" panose="020B0503050203000203" pitchFamily="34" charset="-34"/>
              </a:rPr>
              <a:t>Queue</a:t>
            </a:r>
            <a:endParaRPr lang="en-US" sz="5200" dirty="0">
              <a:latin typeface="IBM Plex Sans Thai" panose="020B0503050203000203" pitchFamily="34" charset="-34"/>
              <a:cs typeface="IBM Plex Sans Thai" panose="020B0503050203000203" pitchFamily="34" charset="-34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68580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EDBC0"/>
                </a:solidFill>
              </a:rPr>
              <a:t>ระบบจองคิว รับ–ส่งสินค้า หน้าคลัง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588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9CC4AE"/>
                </a:solidFill>
              </a:rPr>
              <a:t>จัดทำโดย</a:t>
            </a:r>
            <a:r>
              <a:rPr lang="en-US" sz="1200" dirty="0">
                <a:solidFill>
                  <a:srgbClr val="9CC4AE"/>
                </a:solidFill>
              </a:rPr>
              <a:t> บริษัท โกอะลอง จำกัด</a:t>
            </a:r>
            <a:endParaRPr lang="en-US" sz="1200" dirty="0"/>
          </a:p>
        </p:txBody>
      </p:sp>
      <p:pic>
        <p:nvPicPr>
          <p:cNvPr id="8" name="Image 0" descr="จอเรียกคิวบน TV หน้าลาน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009" y="1153584"/>
            <a:ext cx="6764937" cy="3805277"/>
          </a:xfrm>
          <a:prstGeom prst="rect">
            <a:avLst/>
          </a:prstGeom>
        </p:spPr>
      </p:pic>
      <p:sp>
        <p:nvSpPr>
          <p:cNvPr id="9" name="Footer Rule"/>
          <p:cNvSpPr/>
          <p:nvPr/>
        </p:nvSpPr>
        <p:spPr>
          <a:xfrm>
            <a:off x="731520" y="6254496"/>
            <a:ext cx="10728929" cy="20116"/>
          </a:xfrm>
          <a:prstGeom prst="rect">
            <a:avLst/>
          </a:prstGeom>
          <a:solidFill>
            <a:srgbClr val="2F5A47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10" name="Footer Accent"/>
          <p:cNvSpPr/>
          <p:nvPr/>
        </p:nvSpPr>
        <p:spPr>
          <a:xfrm>
            <a:off x="731519" y="6254495"/>
            <a:ext cx="1375955" cy="45719"/>
          </a:xfrm>
          <a:prstGeom prst="rect">
            <a:avLst/>
          </a:prstGeom>
          <a:solidFill>
            <a:srgbClr val="ADC32B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12" name="Footer Company"/>
          <p:cNvSpPr txBox="1"/>
          <p:nvPr/>
        </p:nvSpPr>
        <p:spPr>
          <a:xfrm>
            <a:off x="1060704" y="645109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50" b="1" spc="40" dirty="0">
                <a:solidFill>
                  <a:srgbClr val="AEDBC0"/>
                </a:solidFill>
                <a:latin typeface="IBM Plex Sans Thai"/>
                <a:ea typeface="IBM Plex Sans Thai"/>
                <a:cs typeface="IBM Plex Sans Thai"/>
              </a:rPr>
              <a:t>Go Along Co., Ltd.</a:t>
            </a:r>
          </a:p>
        </p:txBody>
      </p:sp>
      <p:sp>
        <p:nvSpPr>
          <p:cNvPr id="13" name="Footer Page Number"/>
          <p:cNvSpPr txBox="1"/>
          <p:nvPr/>
        </p:nvSpPr>
        <p:spPr>
          <a:xfrm>
            <a:off x="9997409" y="6451092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fld id="{6F1C2A3B-9D4E-4B8A-A1C2-3E5F7A9B0C11}" type="slidenum">
              <a:rPr lang="en-US" sz="950" b="1" spc="40" dirty="0">
                <a:solidFill>
                  <a:srgbClr val="8FA89B"/>
                </a:solidFill>
                <a:latin typeface="IBM Plex Sans Thai"/>
                <a:ea typeface="IBM Plex Sans Thai"/>
                <a:cs typeface="IBM Plex Sans Thai"/>
              </a:rPr>
              <a:t>1</a:t>
            </a:fld>
            <a:endParaRPr lang="en-US" sz="950" b="1" spc="40" dirty="0">
              <a:solidFill>
                <a:srgbClr val="8FA89B"/>
              </a:solidFill>
              <a:latin typeface="IBM Plex Sans Thai"/>
              <a:ea typeface="IBM Plex Sans Thai"/>
              <a:cs typeface="IBM Plex Sans Thai"/>
            </a:endParaRPr>
          </a:p>
        </p:txBody>
      </p:sp>
      <p:pic>
        <p:nvPicPr>
          <p:cNvPr id="6" name="Picture 5" descr="logo_goalong.png">
            <a:extLst>
              <a:ext uri="{FF2B5EF4-FFF2-40B4-BE49-F238E27FC236}">
                <a16:creationId xmlns:a16="http://schemas.microsoft.com/office/drawing/2014/main" id="{2DEA5F1B-9994-DFF5-AE5D-619590137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6454648"/>
            <a:ext cx="237744" cy="166699"/>
          </a:xfrm>
          <a:prstGeom prst="rect">
            <a:avLst/>
          </a:prstGeom>
        </p:spPr>
      </p:pic>
      <p:pic>
        <p:nvPicPr>
          <p:cNvPr id="15" name="Picture 14" descr="A qr code with green squares&#10;&#10;AI-generated content may be incorrect.">
            <a:extLst>
              <a:ext uri="{FF2B5EF4-FFF2-40B4-BE49-F238E27FC236}">
                <a16:creationId xmlns:a16="http://schemas.microsoft.com/office/drawing/2014/main" id="{30623625-FF9A-95C9-05C3-BC6050DC8E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977" y="5380482"/>
            <a:ext cx="780796" cy="78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841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กำหนดการ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5 ช่วง เลือกเข้าตามบทบาท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075974"/>
              </p:ext>
            </p:extLst>
          </p:nvPr>
        </p:nvGraphicFramePr>
        <p:xfrm>
          <a:off x="685800" y="1737360"/>
          <a:ext cx="10817352" cy="2225040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ช่วง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หัวข้อ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h-TH" sz="16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charset="0"/>
                          <a:cs typeface="IBM Plex Sans Thai" pitchFamily="34" charset="-120"/>
                        </a:rPr>
                        <a:t>บทบาท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เวลา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1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ภาพรวมระบบ บทบาท สถานะคิว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ทุกคน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10 นาที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2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คีย์ SO / PO ชำระเงิน ส่งลิงก์จอง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ฝ่ายขาย · ฝ่ายจัดซื้อ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20 นาที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3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งานหน้างาน: อนุมัติ ถึง ปิดงาน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 err="1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ทีมคลัง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30 นาที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4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แดชบอร์ด สิทธิ์ ตั้งค่าระบบ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 err="1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ผู้จัดการ</a:t>
                      </a: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 · Admin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15 นาที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5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LINE OA และฝึกปฏิบัติจริง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ทุกคน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15 นาที</a:t>
                      </a:r>
                      <a:endParaRPr lang="en-US" sz="16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เวลาเป็นค่าแนะนำ ปรับตามจำนวนผู้เข้าอบรม · คู่มือ PDF แยกตามบทบาทแจกหลังอบรม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587875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ภาพรวม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เส้นทางของ 1 คิว ตั้งแต่เอกสารถึงปิดงาน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2499284" cy="1920240"/>
          </a:xfrm>
          <a:prstGeom prst="roundRect">
            <a:avLst>
              <a:gd name="adj" fmla="val 571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 txBox="1"/>
          <p:nvPr/>
        </p:nvSpPr>
        <p:spPr>
          <a:xfrm>
            <a:off x="9144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97480"/>
            <a:ext cx="20420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คีย์ SO / PO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154680"/>
            <a:ext cx="20420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ฝ่ายขาย · ฝ่ายจัดซื้อ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59404" y="1783080"/>
            <a:ext cx="2499284" cy="1920240"/>
          </a:xfrm>
          <a:prstGeom prst="roundRect">
            <a:avLst>
              <a:gd name="adj" fmla="val 571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88004" y="2011680"/>
            <a:ext cx="548640" cy="548640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 txBox="1"/>
          <p:nvPr/>
        </p:nvSpPr>
        <p:spPr>
          <a:xfrm>
            <a:off x="3688004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88004" y="2697480"/>
            <a:ext cx="20420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ส่งลิงก์ / QR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88004" y="3154680"/>
            <a:ext cx="20420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ลิงก์เฉพาะเอกสารใบนั้น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1783080"/>
            <a:ext cx="2499284" cy="1920240"/>
          </a:xfrm>
          <a:prstGeom prst="roundRect">
            <a:avLst>
              <a:gd name="adj" fmla="val 571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6461608" y="2011680"/>
            <a:ext cx="548640" cy="548640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 txBox="1"/>
          <p:nvPr/>
        </p:nvSpPr>
        <p:spPr>
          <a:xfrm>
            <a:off x="646160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697480"/>
            <a:ext cx="20420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คู่ค้าจองคิวเอง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154680"/>
            <a:ext cx="20420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เลือกรถ วัน เวลา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06611" y="1783080"/>
            <a:ext cx="2499284" cy="1920240"/>
          </a:xfrm>
          <a:prstGeom prst="roundRect">
            <a:avLst>
              <a:gd name="adj" fmla="val 571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9235211" y="2011680"/>
            <a:ext cx="548640" cy="548640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 txBox="1"/>
          <p:nvPr/>
        </p:nvSpPr>
        <p:spPr>
          <a:xfrm>
            <a:off x="9235211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235211" y="2697480"/>
            <a:ext cx="20420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อนุมัติ + ออก DO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235211" y="3154680"/>
            <a:ext cx="20420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ทีมคลัง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85800" y="3977640"/>
            <a:ext cx="2499284" cy="1920240"/>
          </a:xfrm>
          <a:prstGeom prst="roundRect">
            <a:avLst>
              <a:gd name="adj" fmla="val 571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914400" y="4206240"/>
            <a:ext cx="548640" cy="548640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 txBox="1"/>
          <p:nvPr/>
        </p:nvSpPr>
        <p:spPr>
          <a:xfrm>
            <a:off x="91440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4892040"/>
            <a:ext cx="20420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รถมาถึง · เช็คอิน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5349240"/>
            <a:ext cx="20420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sz="1300" dirty="0">
                <a:solidFill>
                  <a:srgbClr val="44564C"/>
                </a:solidFill>
              </a:rPr>
              <a:t>ทีมคลัง </a:t>
            </a:r>
            <a:r>
              <a:rPr lang="en-US" sz="1300" dirty="0" err="1">
                <a:solidFill>
                  <a:srgbClr val="44564C"/>
                </a:solidFill>
              </a:rPr>
              <a:t>หรือคนขับกดเอง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459404" y="3977640"/>
            <a:ext cx="2499284" cy="1920240"/>
          </a:xfrm>
          <a:prstGeom prst="roundRect">
            <a:avLst>
              <a:gd name="adj" fmla="val 571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0" name="Shape 28"/>
          <p:cNvSpPr/>
          <p:nvPr/>
        </p:nvSpPr>
        <p:spPr>
          <a:xfrm>
            <a:off x="3688004" y="4206240"/>
            <a:ext cx="548640" cy="548640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 txBox="1"/>
          <p:nvPr/>
        </p:nvSpPr>
        <p:spPr>
          <a:xfrm>
            <a:off x="3688004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3688004" y="4892040"/>
            <a:ext cx="20420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เรียกเข้าท่า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3688004" y="5349240"/>
            <a:ext cx="20420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อัตโนมัติเมื่อท่าว่าง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33008" y="3977640"/>
            <a:ext cx="2499284" cy="1920240"/>
          </a:xfrm>
          <a:prstGeom prst="roundRect">
            <a:avLst>
              <a:gd name="adj" fmla="val 571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5" name="Shape 33"/>
          <p:cNvSpPr/>
          <p:nvPr/>
        </p:nvSpPr>
        <p:spPr>
          <a:xfrm>
            <a:off x="6461608" y="4206240"/>
            <a:ext cx="548640" cy="548640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6" name="Text 34"/>
          <p:cNvSpPr txBox="1"/>
          <p:nvPr/>
        </p:nvSpPr>
        <p:spPr>
          <a:xfrm>
            <a:off x="6461608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61608" y="4892040"/>
            <a:ext cx="20420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ขึ้น/ลงของ · ปิดงาน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461608" y="5349240"/>
            <a:ext cx="20420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ลงชื่อ 2 ฝ่ายบนใบ DO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9006611" y="3977640"/>
            <a:ext cx="2499284" cy="1920240"/>
          </a:xfrm>
          <a:prstGeom prst="roundRect">
            <a:avLst>
              <a:gd name="adj" fmla="val 5714"/>
            </a:avLst>
          </a:prstGeom>
          <a:solidFill>
            <a:srgbClr val="002C1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0" name="Text 38"/>
          <p:cNvSpPr txBox="1"/>
          <p:nvPr/>
        </p:nvSpPr>
        <p:spPr>
          <a:xfrm>
            <a:off x="9235211" y="4160520"/>
            <a:ext cx="20420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7F3EC"/>
                </a:solidFill>
              </a:rPr>
              <a:t>SO ต้อง ชำระแล้ว หรือ เครดิต ก่อนอนุมัติ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ภาพรวม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ใครทำอะไรในระบบ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685800" y="1737360"/>
          <a:ext cx="10817352" cy="2844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บทบาท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หน้าที่ในระบบ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เมนูหลัก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ผู้ดูแลระบบ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พนักงาน สิทธิ์ สาขา LINE ERP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ทุกเมนู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แอดมินฝ่ายขาย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คีย์ SO · บันทึกชำระเงิน · ส่งลิงก์ · Walk-in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ใบสั่งขาย (SO)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ฝ่ายจัดซื้อ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คีย์ PO · ส่งลิงก์ · Walk-in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ใบสั่งซื้อ (PO)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แอดมินคลัง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อนุมัติ · เช็คอิน · เรียกเข้าท่า · ปิดงาน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คิว · บอร์ดคิว · จอคิว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ผู้จัดการคลัง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งานคลังทั้งหมด + รายงาน + ตั้งค่าคลัง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+ แดชบอร์ด · รายงาน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ผู้บริหาร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ดูอย่างเดียว · ส่งออกข้อมูล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แดชบอร์ด · ปฏิทิน · รายงาน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คู่ค้า · คนขับ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ไม่ต้องล็อกอิน ใช้ลิงก์ + LINE OA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หน้าลิงก์บนมือถือ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5955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ภาพรวม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สถานะคิว 8 </a:t>
            </a:r>
            <a:r>
              <a:rPr lang="en-US" sz="3200" b="1" dirty="0" err="1">
                <a:solidFill>
                  <a:srgbClr val="0F2A1F"/>
                </a:solidFill>
              </a:rPr>
              <a:t>แบบ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2499284" cy="1874520"/>
          </a:xfrm>
          <a:prstGeom prst="roundRect">
            <a:avLst>
              <a:gd name="adj" fmla="val 585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914400" y="2075688"/>
            <a:ext cx="201168" cy="201168"/>
          </a:xfrm>
          <a:prstGeom prst="ellipse">
            <a:avLst/>
          </a:prstGeom>
          <a:solidFill>
            <a:srgbClr val="D08A1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 txBox="1"/>
          <p:nvPr/>
        </p:nvSpPr>
        <p:spPr>
          <a:xfrm>
            <a:off x="1234440" y="196596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รอยืนยัน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6888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รอคลังอนุมัติ SO ที่ยังไม่ชำระ ค้างที่นี่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59404" y="1783080"/>
            <a:ext cx="2499284" cy="1874520"/>
          </a:xfrm>
          <a:prstGeom prst="roundRect">
            <a:avLst>
              <a:gd name="adj" fmla="val 585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88004" y="2075688"/>
            <a:ext cx="201168" cy="201168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 txBox="1"/>
          <p:nvPr/>
        </p:nvSpPr>
        <p:spPr>
          <a:xfrm>
            <a:off x="4008044" y="196596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ยืนยันแล้ว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688004" y="246888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ออกเลข DO และลิงก์คนขับแล้ว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33008" y="1783080"/>
            <a:ext cx="2499284" cy="1874520"/>
          </a:xfrm>
          <a:prstGeom prst="roundRect">
            <a:avLst>
              <a:gd name="adj" fmla="val 585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6461608" y="2075688"/>
            <a:ext cx="201168" cy="201168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 txBox="1"/>
          <p:nvPr/>
        </p:nvSpPr>
        <p:spPr>
          <a:xfrm>
            <a:off x="6781648" y="196596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เลยเวลานัด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61608" y="246888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เกินเวลาเผื่อ รถยังเช็คอินได้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06611" y="1783080"/>
            <a:ext cx="2499284" cy="1874520"/>
          </a:xfrm>
          <a:prstGeom prst="roundRect">
            <a:avLst>
              <a:gd name="adj" fmla="val 585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9235211" y="2075688"/>
            <a:ext cx="201168" cy="201168"/>
          </a:xfrm>
          <a:prstGeom prst="ellipse">
            <a:avLst/>
          </a:prstGeom>
          <a:solidFill>
            <a:srgbClr val="7E3AA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 txBox="1"/>
          <p:nvPr/>
        </p:nvSpPr>
        <p:spPr>
          <a:xfrm>
            <a:off x="9555251" y="196596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มาถึงแล้ว · รอเรียก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235211" y="246888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เช็คอินแล้ว รอในลาน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85800" y="3931920"/>
            <a:ext cx="2499284" cy="1874520"/>
          </a:xfrm>
          <a:prstGeom prst="roundRect">
            <a:avLst>
              <a:gd name="adj" fmla="val 585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914400" y="4224528"/>
            <a:ext cx="201168" cy="201168"/>
          </a:xfrm>
          <a:prstGeom prst="ellipse">
            <a:avLst/>
          </a:prstGeom>
          <a:solidFill>
            <a:srgbClr val="2563C9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 txBox="1"/>
          <p:nvPr/>
        </p:nvSpPr>
        <p:spPr>
          <a:xfrm>
            <a:off x="1234440" y="411480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กำลังเรียกเข้าท่า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61772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ขึ้นจอ TV และแจ้งคนขับแล้ว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459404" y="3931920"/>
            <a:ext cx="2499284" cy="1874520"/>
          </a:xfrm>
          <a:prstGeom prst="roundRect">
            <a:avLst>
              <a:gd name="adj" fmla="val 585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3688004" y="4224528"/>
            <a:ext cx="201168" cy="201168"/>
          </a:xfrm>
          <a:prstGeom prst="ellipse">
            <a:avLst/>
          </a:prstGeom>
          <a:solidFill>
            <a:srgbClr val="12996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 txBox="1"/>
          <p:nvPr/>
        </p:nvSpPr>
        <p:spPr>
          <a:xfrm>
            <a:off x="4008044" y="411480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กำลังขึ้น/ลงของ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688004" y="461772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รถอยู่ที่ท่า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33008" y="3931920"/>
            <a:ext cx="2499284" cy="1874520"/>
          </a:xfrm>
          <a:prstGeom prst="roundRect">
            <a:avLst>
              <a:gd name="adj" fmla="val 585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9" name="Shape 27"/>
          <p:cNvSpPr/>
          <p:nvPr/>
        </p:nvSpPr>
        <p:spPr>
          <a:xfrm>
            <a:off x="6461608" y="4224528"/>
            <a:ext cx="201168" cy="201168"/>
          </a:xfrm>
          <a:prstGeom prst="ellipse">
            <a:avLst/>
          </a:prstGeom>
          <a:solidFill>
            <a:srgbClr val="5B6B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 txBox="1"/>
          <p:nvPr/>
        </p:nvSpPr>
        <p:spPr>
          <a:xfrm>
            <a:off x="6781648" y="411480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เสร็จสิ้น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6461608" y="461772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ปิดงานแล้ว ท่าว่าง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006611" y="3931920"/>
            <a:ext cx="2499284" cy="1874520"/>
          </a:xfrm>
          <a:prstGeom prst="roundRect">
            <a:avLst>
              <a:gd name="adj" fmla="val 585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3" name="Shape 31"/>
          <p:cNvSpPr/>
          <p:nvPr/>
        </p:nvSpPr>
        <p:spPr>
          <a:xfrm>
            <a:off x="9235211" y="4224528"/>
            <a:ext cx="201168" cy="201168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4" name="Text 32"/>
          <p:cNvSpPr txBox="1"/>
          <p:nvPr/>
        </p:nvSpPr>
        <p:spPr>
          <a:xfrm>
            <a:off x="9555251" y="4114800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ไม่มา / ยกเลิก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235211" y="461772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ช่วงเวลานั้นกลับมาว่าง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3108960" cy="5613400"/>
          </a:xfrm>
          <a:prstGeom prst="roundRect">
            <a:avLst>
              <a:gd name="adj" fmla="val 3333"/>
            </a:avLst>
          </a:prstGeom>
          <a:solidFill>
            <a:srgbClr val="E6EEE7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3" name="Image 0" descr="อีเมลคำเชิญเข้าใช้งาน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88" y="697472"/>
            <a:ext cx="2970784" cy="513285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0" y="411480"/>
            <a:ext cx="6933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เริ่มต้นใช้งาน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0" y="777240"/>
            <a:ext cx="6933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เข้าใช้งานครั้งแรก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4572000" y="1737360"/>
            <a:ext cx="693389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1.  เปิดอีเมล คำเชิญเข้าใช้งาน (ไม่เจอ ดู Junk / Spam)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2.  กด ยอมรับคำเชิญและตั้งรหัสผ่าน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3.  ตั้งรหัสผ่าน อย่างน้อย 8 ตัว แล้วกด บันทึก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4.  ครั้งถัดไป ล็อกอินด้วยอีเมล + รหัสผ่าน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4572000" y="4023360"/>
            <a:ext cx="6933895" cy="1005840"/>
          </a:xfrm>
          <a:prstGeom prst="roundRect">
            <a:avLst>
              <a:gd name="adj" fmla="val 9091"/>
            </a:avLst>
          </a:prstGeom>
          <a:solidFill>
            <a:srgbClr val="FBEFD9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5"/>
          <p:cNvSpPr txBox="1"/>
          <p:nvPr/>
        </p:nvSpPr>
        <p:spPr>
          <a:xfrm>
            <a:off x="4754880" y="4114800"/>
            <a:ext cx="6568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2A06"/>
                </a:solidFill>
              </a:rPr>
              <a:t>ข้อควรระวัง · </a:t>
            </a:r>
            <a:r>
              <a:rPr lang="en-US" sz="1400" dirty="0">
                <a:solidFill>
                  <a:srgbClr val="5A2A06"/>
                </a:solidFill>
              </a:rPr>
              <a:t>ลิงก์ในอีเมลใช้ได้ครั้งเดียวและมีอายุ หมดอายุแล้วขอผู้ดูแลระบบส่งใหม่ ห้ามส่งต่ออีเมลเชิญ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5303520"/>
            <a:ext cx="6933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564C"/>
                </a:solidFill>
              </a:rPr>
              <a:t>ลืมรหัสผ่าน: กด ลืมรหัสผ่าน? ที่หน้าเข้าสู่ระบบ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23487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7">
    <p:bg>
      <p:bgPr>
        <a:solidFill>
          <a:srgbClr val="002C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1168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DC32B"/>
                </a:solidFill>
              </a:rPr>
              <a:t>ช่วงที่ 2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06040"/>
            <a:ext cx="10820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rgbClr val="F4FAF6"/>
                </a:solidFill>
              </a:rPr>
              <a:t>ฝ่ายขาย และ ฝ่ายจัดซื้อ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977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AEDBC0"/>
                </a:solidFill>
              </a:rPr>
              <a:t>คีย์เอกสาร · บันทึกการชำระเงิน · ส่งลิงก์จองคิว · ติดตามสถานะ</a:t>
            </a:r>
            <a:endParaRPr lang="en-US" sz="2000" dirty="0"/>
          </a:p>
        </p:txBody>
      </p:sp>
      <p:sp>
        <p:nvSpPr>
          <p:cNvPr id="5" name="Footer Rule"/>
          <p:cNvSpPr/>
          <p:nvPr/>
        </p:nvSpPr>
        <p:spPr>
          <a:xfrm>
            <a:off x="731520" y="6254496"/>
            <a:ext cx="10728929" cy="20116"/>
          </a:xfrm>
          <a:prstGeom prst="rect">
            <a:avLst/>
          </a:prstGeom>
          <a:solidFill>
            <a:srgbClr val="2F5A47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6" name="Footer Accent"/>
          <p:cNvSpPr/>
          <p:nvPr/>
        </p:nvSpPr>
        <p:spPr>
          <a:xfrm>
            <a:off x="731519" y="6254495"/>
            <a:ext cx="1375955" cy="45719"/>
          </a:xfrm>
          <a:prstGeom prst="rect">
            <a:avLst/>
          </a:prstGeom>
          <a:solidFill>
            <a:srgbClr val="ADC32B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8" name="Footer Company"/>
          <p:cNvSpPr txBox="1"/>
          <p:nvPr/>
        </p:nvSpPr>
        <p:spPr>
          <a:xfrm>
            <a:off x="1060704" y="645109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50" b="1" spc="40" dirty="0">
                <a:solidFill>
                  <a:srgbClr val="AEDBC0"/>
                </a:solidFill>
                <a:latin typeface="IBM Plex Sans Thai"/>
                <a:ea typeface="IBM Plex Sans Thai"/>
                <a:cs typeface="IBM Plex Sans Thai"/>
              </a:rPr>
              <a:t>Go Along Co., Ltd.</a:t>
            </a:r>
          </a:p>
        </p:txBody>
      </p:sp>
      <p:sp>
        <p:nvSpPr>
          <p:cNvPr id="9" name="Footer Page Number"/>
          <p:cNvSpPr txBox="1"/>
          <p:nvPr/>
        </p:nvSpPr>
        <p:spPr>
          <a:xfrm>
            <a:off x="9997409" y="6451092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fld id="{6F1C2A3B-9D4E-4B8A-A1C2-3E5F7A9B0C11}" type="slidenum">
              <a:rPr lang="en-US" sz="950" b="1" spc="40" dirty="0">
                <a:solidFill>
                  <a:srgbClr val="8FA89B"/>
                </a:solidFill>
                <a:latin typeface="IBM Plex Sans Thai"/>
                <a:ea typeface="IBM Plex Sans Thai"/>
                <a:cs typeface="IBM Plex Sans Thai"/>
              </a:rPr>
              <a:t>7</a:t>
            </a:fld>
            <a:endParaRPr lang="en-US" sz="950" b="1" spc="40" dirty="0">
              <a:solidFill>
                <a:srgbClr val="8FA89B"/>
              </a:solidFill>
              <a:latin typeface="IBM Plex Sans Thai"/>
              <a:ea typeface="IBM Plex Sans Thai"/>
              <a:cs typeface="IBM Plex Sans Thai"/>
            </a:endParaRPr>
          </a:p>
        </p:txBody>
      </p:sp>
      <p:pic>
        <p:nvPicPr>
          <p:cNvPr id="10" name="Copied Picture 10" descr="logo_goalong.png">
            <a:extLst>
              <a:ext uri="{FF2B5EF4-FFF2-40B4-BE49-F238E27FC236}">
                <a16:creationId xmlns:a16="http://schemas.microsoft.com/office/drawing/2014/main" id="{2DEA5F1B-9994-DFF5-AE5D-61959013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54648"/>
            <a:ext cx="237744" cy="16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813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ใบสั่งขาย (SO) · ใบสั่งซื้อ (PO)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หน้ารายการเอกสาร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6949440" cy="4343400"/>
          </a:xfrm>
          <a:prstGeom prst="roundRect">
            <a:avLst>
              <a:gd name="adj" fmla="val 2526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5" name="Image 0" descr="หน้ารายการใบสั่งขาย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" y="1810512"/>
            <a:ext cx="6715354" cy="41970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01000" y="1783080"/>
            <a:ext cx="3504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ชำระเงิน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2167128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ยังไม่ชำระ · ชำระแล้ว · เครดิต (เฉพาะ SO)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2862072"/>
            <a:ext cx="3504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สถานะเอกสาร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3246120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รอจองคิว · มีคิวแล้ว · ปิดแล้ว · ยกเลิก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3941064"/>
            <a:ext cx="3504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ปุ่มท้ายแถว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001000" y="432511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บันทึกชำระเงิน · รูปรถ (Walk-in) · ลิงก์ · แก้ไข · ปิด · ยกเลิก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5020056"/>
            <a:ext cx="3504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กดเลขที่สีเขียว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5404104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ดูคิวทุกเที่ยวของเอกสารใบนั้น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ใบสั่งขาย (SO) · ใบสั่งซื้อ (PO)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เพิ่มเอกสาร ทีละใบ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4572000" cy="4343400"/>
          </a:xfrm>
          <a:prstGeom prst="roundRect">
            <a:avLst>
              <a:gd name="adj" fmla="val 2526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5" name="Image 0" descr="ฟอร์มเพิ่มใบสั่งขาย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1821607"/>
            <a:ext cx="4425696" cy="41749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15000" y="1783080"/>
            <a:ext cx="57908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1.  กด เพิ่ม SO มุมขวาบน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2.  เลือก สาขา / คลัง ที่รับ–ส่งสินค้า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3.  กรอก เลขที่ · วันที่ · กำหนดส่ง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4.  เลือก สถานะการชำระเงิน (SO)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5.  พิมพ์ชื่อคู่ค้า แล้วเลือกจากรายการ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6.  กด บันทึกเอกสาร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715000" y="4892040"/>
            <a:ext cx="5790895" cy="1188720"/>
          </a:xfrm>
          <a:prstGeom prst="roundRect">
            <a:avLst>
              <a:gd name="adj" fmla="val 7692"/>
            </a:avLst>
          </a:prstGeom>
          <a:solidFill>
            <a:srgbClr val="E1EFE5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5"/>
          <p:cNvSpPr txBox="1"/>
          <p:nvPr/>
        </p:nvSpPr>
        <p:spPr>
          <a:xfrm>
            <a:off x="5897880" y="4983480"/>
            <a:ext cx="5425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1F"/>
                </a:solidFill>
              </a:rPr>
              <a:t>เลขที่ซ้ำ</a:t>
            </a:r>
            <a:r>
              <a:rPr lang="en-US" sz="1400" dirty="0">
                <a:solidFill>
                  <a:srgbClr val="0F2A1F"/>
                </a:solidFill>
              </a:rPr>
              <a:t> = อัปเดตใบเดิม ไม่สร้างใบใหม่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2A1F"/>
                </a:solidFill>
              </a:rPr>
              <a:t>คู่ค้ารายใหม่</a:t>
            </a:r>
            <a:r>
              <a:rPr lang="en-US" sz="1400" dirty="0">
                <a:solidFill>
                  <a:srgbClr val="0F2A1F"/>
                </a:solidFill>
              </a:rPr>
              <a:t> = กรอกชื่อ + เบอร์ ระบบบันทึกให้เอง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0">
    <p:bg>
      <p:bgPr>
        <a:solidFill>
          <a:srgbClr val="ADC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9144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71E"/>
                </a:solidFill>
              </a:rPr>
              <a:t>กติกาสำคัญของ SO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63040"/>
            <a:ext cx="1082009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0F2A1F"/>
                </a:solidFill>
              </a:rPr>
              <a:t>ยังไม่ชำระ = ลูกค้าจองได้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0F2A1F"/>
                </a:solidFill>
              </a:rPr>
              <a:t>แต่คลังอนุมัติไม่ได้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3931920"/>
            <a:ext cx="3362858" cy="1828800"/>
          </a:xfrm>
          <a:prstGeom prst="roundRect">
            <a:avLst>
              <a:gd name="adj" fmla="val 6000"/>
            </a:avLst>
          </a:prstGeom>
          <a:solidFill>
            <a:srgbClr val="F4F8E4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 txBox="1"/>
          <p:nvPr/>
        </p:nvSpPr>
        <p:spPr>
          <a:xfrm>
            <a:off x="960120" y="411480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1F"/>
                </a:solidFill>
              </a:rPr>
              <a:t>ฝ่ายขายทำ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461772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E3B33"/>
                </a:solidFill>
              </a:rPr>
              <a:t>กด บันทึกชำระเงิน เลือก ชำระแล้ว หรือ เครดิต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4418" y="3931920"/>
            <a:ext cx="3362858" cy="1828800"/>
          </a:xfrm>
          <a:prstGeom prst="roundRect">
            <a:avLst>
              <a:gd name="adj" fmla="val 6000"/>
            </a:avLst>
          </a:prstGeom>
          <a:solidFill>
            <a:srgbClr val="F4F8E4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 txBox="1"/>
          <p:nvPr/>
        </p:nvSpPr>
        <p:spPr>
          <a:xfrm>
            <a:off x="4688738" y="411480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1F"/>
                </a:solidFill>
              </a:rPr>
              <a:t>ระบบทำต่อ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88738" y="461772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E3B33"/>
                </a:solidFill>
              </a:rPr>
              <a:t>แจ้งทีมคลังทันที ว่าคิวไหนอนุมัติได้แล้ว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43037" y="3931920"/>
            <a:ext cx="3362858" cy="1828800"/>
          </a:xfrm>
          <a:prstGeom prst="roundRect">
            <a:avLst>
              <a:gd name="adj" fmla="val 6000"/>
            </a:avLst>
          </a:prstGeom>
          <a:solidFill>
            <a:srgbClr val="F4F8E4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 txBox="1"/>
          <p:nvPr/>
        </p:nvSpPr>
        <p:spPr>
          <a:xfrm>
            <a:off x="8417357" y="411480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1F"/>
                </a:solidFill>
              </a:rPr>
              <a:t>ห้ามลืม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17357" y="461772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E3B33"/>
                </a:solidFill>
              </a:rPr>
              <a:t>มีคิวอนุมัติแล้ว จะเปลี่ยนกลับเป็น ยังไม่ชำระ ไม่ได้</a:t>
            </a:r>
            <a:endParaRPr lang="en-US" sz="1400" dirty="0"/>
          </a:p>
        </p:txBody>
      </p:sp>
      <p:sp>
        <p:nvSpPr>
          <p:cNvPr id="13" name="Footer Rule"/>
          <p:cNvSpPr/>
          <p:nvPr/>
        </p:nvSpPr>
        <p:spPr>
          <a:xfrm>
            <a:off x="731520" y="6254496"/>
            <a:ext cx="10728929" cy="20116"/>
          </a:xfrm>
          <a:prstGeom prst="rect">
            <a:avLst/>
          </a:prstGeom>
          <a:solidFill>
            <a:srgbClr val="DDE5DF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14" name="Footer Accent"/>
          <p:cNvSpPr/>
          <p:nvPr/>
        </p:nvSpPr>
        <p:spPr>
          <a:xfrm>
            <a:off x="731519" y="6254495"/>
            <a:ext cx="1375955" cy="45719"/>
          </a:xfrm>
          <a:prstGeom prst="rect">
            <a:avLst/>
          </a:prstGeom>
          <a:solidFill>
            <a:srgbClr val="1B5E3F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16" name="Footer Company"/>
          <p:cNvSpPr txBox="1"/>
          <p:nvPr/>
        </p:nvSpPr>
        <p:spPr>
          <a:xfrm>
            <a:off x="1060704" y="645109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50" b="1" spc="40" dirty="0">
                <a:solidFill>
                  <a:srgbClr val="1B5E3F"/>
                </a:solidFill>
                <a:latin typeface="IBM Plex Sans Thai"/>
                <a:ea typeface="IBM Plex Sans Thai"/>
                <a:cs typeface="IBM Plex Sans Thai"/>
              </a:rPr>
              <a:t>Go Along Co., Ltd.</a:t>
            </a:r>
          </a:p>
        </p:txBody>
      </p:sp>
      <p:sp>
        <p:nvSpPr>
          <p:cNvPr id="17" name="Footer Page Number"/>
          <p:cNvSpPr txBox="1"/>
          <p:nvPr/>
        </p:nvSpPr>
        <p:spPr>
          <a:xfrm>
            <a:off x="9997409" y="6451092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fld id="{6F1C2A3B-9D4E-4B8A-A1C2-3E5F7A9B0C11}" type="slidenum">
              <a:rPr lang="en-US" sz="950" b="1" spc="40" dirty="0">
                <a:solidFill>
                  <a:srgbClr val="1B5E3F"/>
                </a:solidFill>
                <a:latin typeface="IBM Plex Sans Thai"/>
                <a:ea typeface="IBM Plex Sans Thai"/>
                <a:cs typeface="IBM Plex Sans Thai"/>
              </a:rPr>
              <a:t>10</a:t>
            </a:fld>
            <a:endParaRPr lang="en-US" sz="950" b="1" spc="40" dirty="0">
              <a:solidFill>
                <a:srgbClr val="1B5E3F"/>
              </a:solidFill>
              <a:latin typeface="IBM Plex Sans Thai"/>
              <a:ea typeface="IBM Plex Sans Thai"/>
              <a:cs typeface="IBM Plex Sans Thai"/>
            </a:endParaRPr>
          </a:p>
        </p:txBody>
      </p:sp>
      <p:pic>
        <p:nvPicPr>
          <p:cNvPr id="18" name="Copied Picture 18" descr="logo_goalong.png">
            <a:extLst>
              <a:ext uri="{FF2B5EF4-FFF2-40B4-BE49-F238E27FC236}">
                <a16:creationId xmlns:a16="http://schemas.microsoft.com/office/drawing/2014/main" id="{2DEA5F1B-9994-DFF5-AE5D-61959013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54648"/>
            <a:ext cx="237744" cy="16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853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45279" cy="5613400"/>
          </a:xfrm>
          <a:prstGeom prst="roundRect">
            <a:avLst>
              <a:gd name="adj" fmla="val 2500"/>
            </a:avLst>
          </a:prstGeom>
          <a:solidFill>
            <a:srgbClr val="E6EEE7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3" name="Image 0" descr="หน้าต่างลิงก์จองคิวและ Q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88" y="637621"/>
            <a:ext cx="4007104" cy="525255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577840" y="411480"/>
            <a:ext cx="5928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ใบสั่งขาย (SO) · ใบสั่งซื้อ (PO)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577840" y="777240"/>
            <a:ext cx="5928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ส่งลิงก์จองคิว / QR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1737360"/>
            <a:ext cx="59280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1.  ที่แถวเอกสาร กด ลิงก์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2.  กด คัดลอกลิงก์ ส่งทาง LINE หรืออีเมล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3.  หรือให้คู่ค้าสแกน QR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4.  คู่ค้าผูก LINE แล้ว ส่งทาง LINE ได้ตรง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577840" y="3886200"/>
            <a:ext cx="5928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564C"/>
                </a:solidFill>
              </a:rPr>
              <a:t>1 ลิงก์ = 1 เอกสาร · มีวันหมดอายุ ใต้ช่องลิงก์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577840" y="4480560"/>
            <a:ext cx="5928055" cy="1005840"/>
          </a:xfrm>
          <a:prstGeom prst="roundRect">
            <a:avLst>
              <a:gd name="adj" fmla="val 9091"/>
            </a:avLst>
          </a:prstGeom>
          <a:solidFill>
            <a:srgbClr val="FBEFD9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6"/>
          <p:cNvSpPr txBox="1"/>
          <p:nvPr/>
        </p:nvSpPr>
        <p:spPr>
          <a:xfrm>
            <a:off x="5760720" y="4572000"/>
            <a:ext cx="5562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2A06"/>
                </a:solidFill>
              </a:rPr>
              <a:t>ข้อควรระวัง · </a:t>
            </a:r>
            <a:r>
              <a:rPr lang="en-US" sz="1400" dirty="0">
                <a:solidFill>
                  <a:srgbClr val="5A2A06"/>
                </a:solidFill>
              </a:rPr>
              <a:t>กด สร้างลิงก์ใหม่ แล้วลิงก์เดิมใช้ไม่ได้ทันที ใช้เมื่อหมดอายุหรือส่งผิดคนเท่านั้น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6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2633979" cy="5613400"/>
          </a:xfrm>
          <a:prstGeom prst="roundRect">
            <a:avLst>
              <a:gd name="adj" fmla="val 393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3" name="Image 0" descr="มือถือลูกค้า เลือกประเภทรถ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88" y="563312"/>
            <a:ext cx="2495804" cy="540117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703320" y="457200"/>
            <a:ext cx="2633979" cy="5613400"/>
          </a:xfrm>
          <a:prstGeom prst="roundRect">
            <a:avLst>
              <a:gd name="adj" fmla="val 393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5" name="Image 1" descr="มือถือลูกค้า จองสำเร็จ รอเจ้าหน้าที่ยืนยัน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2408" y="563312"/>
            <a:ext cx="2495804" cy="540117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949440" y="411480"/>
            <a:ext cx="4556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สิ่งที่คู่ค้าเห็น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949440" y="777240"/>
            <a:ext cx="4556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จองคิวเอง บนมือถือ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1737360"/>
            <a:ext cx="4556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1.  เลือกประเภทรถ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2.  เลือกวัน และเวลาที่ว่าง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3.  กรอกทะเบียน ชื่อ และเบอร์คนขับ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4.  ได้เลขคิว รอคลังยืนยัน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4114800"/>
            <a:ext cx="4556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4564C"/>
                </a:solidFill>
              </a:rPr>
              <a:t>หลังจอง เปลี่ยนทะเบียน / คนขับ หรือยกเลิกเองได้ ก่อนรถเช็คอิน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3">
    <p:bg>
      <p:bgPr>
        <a:solidFill>
          <a:srgbClr val="002C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1168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DC32B"/>
                </a:solidFill>
              </a:rPr>
              <a:t>ช่วงที่ 3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06040"/>
            <a:ext cx="10820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rgbClr val="F4FAF6"/>
                </a:solidFill>
              </a:rPr>
              <a:t>ทีมคลัง หน้างาน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977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AEDBC0"/>
                </a:solidFill>
              </a:rPr>
              <a:t>อนุมัติ · เช็คอิน · เรียกเข้าท่า · ปิดงาน · Walk-in · จัดตารางคิว</a:t>
            </a:r>
            <a:endParaRPr lang="en-US" sz="2000" dirty="0"/>
          </a:p>
        </p:txBody>
      </p:sp>
      <p:sp>
        <p:nvSpPr>
          <p:cNvPr id="5" name="Footer Rule"/>
          <p:cNvSpPr/>
          <p:nvPr/>
        </p:nvSpPr>
        <p:spPr>
          <a:xfrm>
            <a:off x="731520" y="6254496"/>
            <a:ext cx="10728929" cy="20116"/>
          </a:xfrm>
          <a:prstGeom prst="rect">
            <a:avLst/>
          </a:prstGeom>
          <a:solidFill>
            <a:srgbClr val="2F5A47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6" name="Footer Accent"/>
          <p:cNvSpPr/>
          <p:nvPr/>
        </p:nvSpPr>
        <p:spPr>
          <a:xfrm>
            <a:off x="731519" y="6254495"/>
            <a:ext cx="1375955" cy="45719"/>
          </a:xfrm>
          <a:prstGeom prst="rect">
            <a:avLst/>
          </a:prstGeom>
          <a:solidFill>
            <a:srgbClr val="ADC32B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8" name="Footer Company"/>
          <p:cNvSpPr txBox="1"/>
          <p:nvPr/>
        </p:nvSpPr>
        <p:spPr>
          <a:xfrm>
            <a:off x="1060704" y="645109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50" b="1" spc="40" dirty="0">
                <a:solidFill>
                  <a:srgbClr val="AEDBC0"/>
                </a:solidFill>
                <a:latin typeface="IBM Plex Sans Thai"/>
                <a:ea typeface="IBM Plex Sans Thai"/>
                <a:cs typeface="IBM Plex Sans Thai"/>
              </a:rPr>
              <a:t>Go Along Co., Ltd.</a:t>
            </a:r>
          </a:p>
        </p:txBody>
      </p:sp>
      <p:sp>
        <p:nvSpPr>
          <p:cNvPr id="9" name="Footer Page Number"/>
          <p:cNvSpPr txBox="1"/>
          <p:nvPr/>
        </p:nvSpPr>
        <p:spPr>
          <a:xfrm>
            <a:off x="9997409" y="6451092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fld id="{6F1C2A3B-9D4E-4B8A-A1C2-3E5F7A9B0C11}" type="slidenum">
              <a:rPr lang="en-US" sz="950" b="1" spc="40" dirty="0">
                <a:solidFill>
                  <a:srgbClr val="8FA89B"/>
                </a:solidFill>
                <a:latin typeface="IBM Plex Sans Thai"/>
                <a:ea typeface="IBM Plex Sans Thai"/>
                <a:cs typeface="IBM Plex Sans Thai"/>
              </a:rPr>
              <a:t>13</a:t>
            </a:fld>
            <a:endParaRPr lang="en-US" sz="950" b="1" spc="40" dirty="0">
              <a:solidFill>
                <a:srgbClr val="8FA89B"/>
              </a:solidFill>
              <a:latin typeface="IBM Plex Sans Thai"/>
              <a:ea typeface="IBM Plex Sans Thai"/>
              <a:cs typeface="IBM Plex Sans Thai"/>
            </a:endParaRPr>
          </a:p>
        </p:txBody>
      </p:sp>
      <p:pic>
        <p:nvPicPr>
          <p:cNvPr id="10" name="Copied Picture 10" descr="logo_goalong.png">
            <a:extLst>
              <a:ext uri="{FF2B5EF4-FFF2-40B4-BE49-F238E27FC236}">
                <a16:creationId xmlns:a16="http://schemas.microsoft.com/office/drawing/2014/main" id="{2DEA5F1B-9994-DFF5-AE5D-61959013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54648"/>
            <a:ext cx="237744" cy="16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7090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3238499" cy="5613400"/>
          </a:xfrm>
          <a:prstGeom prst="roundRect">
            <a:avLst>
              <a:gd name="adj" fmla="val 3200"/>
            </a:avLst>
          </a:prstGeom>
          <a:solidFill>
            <a:srgbClr val="E6EEE7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3" name="Image 0" descr="หน้าต่างอนุมัติคิวและออก D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88" y="526677"/>
            <a:ext cx="3100324" cy="5474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0" y="411480"/>
            <a:ext cx="6933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คิวรับ-ส่งสินค้า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0" y="777240"/>
            <a:ext cx="6933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อนุมัติคิว + ออกใบ DO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4572000" y="1737360"/>
            <a:ext cx="693389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1.  คิวสถานะ รอยืนยัน กด อนุมัติคิว + ออก DO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2.  ตรวจ เวลาที่ท่า (นาที) ที่ระบบแนะนำ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3.  ดูแถบเวลาของท่า ปรับนาทีไม่ให้ชนคิวถัดไป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4.  กด อนุมัติ + ออก DO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4572000" y="4206240"/>
            <a:ext cx="3329788" cy="1737360"/>
          </a:xfrm>
          <a:prstGeom prst="roundRect">
            <a:avLst>
              <a:gd name="adj" fmla="val 6316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8" name="Text 5"/>
          <p:cNvSpPr txBox="1"/>
          <p:nvPr/>
        </p:nvSpPr>
        <p:spPr>
          <a:xfrm>
            <a:off x="4800600" y="4389120"/>
            <a:ext cx="2872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เวลาแนะนำ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4892040"/>
            <a:ext cx="28725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จำนวนรายการ × นาทีต่อรายการ หรือเวลาของประเภทรถ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176108" y="4206240"/>
            <a:ext cx="3329788" cy="1737360"/>
          </a:xfrm>
          <a:prstGeom prst="roundRect">
            <a:avLst>
              <a:gd name="adj" fmla="val 6316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8"/>
          <p:cNvSpPr txBox="1"/>
          <p:nvPr/>
        </p:nvSpPr>
        <p:spPr>
          <a:xfrm>
            <a:off x="8404708" y="4389120"/>
            <a:ext cx="2872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เลข DO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404708" y="4892040"/>
            <a:ext cx="28725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ออกอัตโนมัติ ไม่ซ้ำ เรียงต่อเนื่องในเดือน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บอร์ดคิว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ควบคุมหน้างาน ด้วยปุ่มเดียวต่อขั้น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6949440" cy="4343400"/>
          </a:xfrm>
          <a:prstGeom prst="roundRect">
            <a:avLst>
              <a:gd name="adj" fmla="val 2526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5" name="Image 0" descr="บอร์ดคิว 6 คอลัมน์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" y="1810512"/>
            <a:ext cx="6715354" cy="419709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8001000" y="1737360"/>
          <a:ext cx="3502152" cy="195072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คอลัมน์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ปุ่มหลัก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รอยืนยัน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อนุมัติ + DO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รอรถมาถึง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รถมาถึงแล้ว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มาถึงแล้ว · รอเรียก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เรียกเข้าท่า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กำลังเรียกเข้าท่า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เริ่มขึ้น/ลงของ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กำลังขึ้น/ลงของ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ปิดงาน</a:t>
                      </a:r>
                      <a:endParaRPr lang="en-US" sz="13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9242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บอร์ดคิว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ปิดงาน และลงชื่อ 2 ฝ่าย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6949440" cy="4343400"/>
          </a:xfrm>
          <a:prstGeom prst="roundRect">
            <a:avLst>
              <a:gd name="adj" fmla="val 2526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5" name="Image 0" descr="หน้าต่างปิดงานพร้อมกล่องลายเซ็น 2 ฝ่าย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854" y="1810512"/>
            <a:ext cx="6745333" cy="41970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01000" y="1783080"/>
            <a:ext cx="35048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1.  กด ปิดงาน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2.  ตรวจชื่อ ทั้งสองฝ่าย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3.  เซ็นด้วยนิ้ว หรือปากกา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4.  กด ลงชื่อและปิดงาน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001000" y="4389120"/>
            <a:ext cx="3504895" cy="1097280"/>
          </a:xfrm>
          <a:prstGeom prst="roundRect">
            <a:avLst>
              <a:gd name="adj" fmla="val 8333"/>
            </a:avLst>
          </a:prstGeom>
          <a:solidFill>
            <a:srgbClr val="E1EFE5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5"/>
          <p:cNvSpPr txBox="1"/>
          <p:nvPr/>
        </p:nvSpPr>
        <p:spPr>
          <a:xfrm>
            <a:off x="8183880" y="4480560"/>
            <a:ext cx="3139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A1F"/>
                </a:solidFill>
              </a:rPr>
              <a:t>ลายเซ็นพิมพ์บนใบ DO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2A1F"/>
                </a:solidFill>
              </a:rPr>
              <a:t>ไม่สะดวก กด ปิดงานโดยไม่ลงชื่อ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3799839" cy="5613400"/>
          </a:xfrm>
          <a:prstGeom prst="roundRect">
            <a:avLst>
              <a:gd name="adj" fmla="val 2727"/>
            </a:avLst>
          </a:prstGeom>
          <a:solidFill>
            <a:srgbClr val="E6EEE7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3" name="Image 0" descr="หน้าต่าง Wal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88" y="548166"/>
            <a:ext cx="3661664" cy="543146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20640" y="411480"/>
            <a:ext cx="6385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บอร์ดคิว · หน้า SO / PO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777240"/>
            <a:ext cx="6385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Walk-in รถมาถึง โดยไม่ได้จอง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737360"/>
            <a:ext cx="63852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1.  กด Walk-in (หรือรูปรถที่แถวเอกสาร)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2.  เลือก SO / PO ของรถคันนั้น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3.  เลือกประเภทรถ กรอกทะเบียน คนขับ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4271E"/>
                </a:solidFill>
              </a:rPr>
              <a:t>4.  แตะช่องเวลา แล้วกด สร้างคิว + เช็คอิน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120640" y="41148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14A35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5"/>
          <p:cNvSpPr txBox="1"/>
          <p:nvPr/>
        </p:nvSpPr>
        <p:spPr>
          <a:xfrm>
            <a:off x="5120640" y="4114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ว่าง เลือกได้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4114800"/>
            <a:ext cx="914400" cy="457200"/>
          </a:xfrm>
          <a:prstGeom prst="roundRect">
            <a:avLst>
              <a:gd name="adj" fmla="val 50000"/>
            </a:avLst>
          </a:prstGeom>
          <a:solidFill>
            <a:srgbClr val="C9D2C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7"/>
          <p:cNvSpPr txBox="1"/>
          <p:nvPr/>
        </p:nvSpPr>
        <p:spPr>
          <a:xfrm>
            <a:off x="7040880" y="4114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71E"/>
                </a:solidFill>
              </a:rPr>
              <a:t>เต็ม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38160" y="411480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B2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9"/>
          <p:cNvSpPr txBox="1"/>
          <p:nvPr/>
        </p:nvSpPr>
        <p:spPr>
          <a:xfrm>
            <a:off x="8138160" y="4114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71E"/>
                </a:solidFill>
              </a:rPr>
              <a:t>ต่อท้าย เกินเวลาทำการ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4846320"/>
            <a:ext cx="6385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4564C"/>
                </a:solidFill>
              </a:rPr>
              <a:t>ต้องผูกเอกสารเสมอ · ใช้ได้เฉพาะวันนี้ · ท่าว่าง ระบบเรียกเข้าท่าทันที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5181599" cy="5613400"/>
          </a:xfrm>
          <a:prstGeom prst="roundRect">
            <a:avLst>
              <a:gd name="adj" fmla="val 2000"/>
            </a:avLst>
          </a:prstGeom>
          <a:solidFill>
            <a:srgbClr val="E6EEE7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3" name="Image 0" descr="หน้าต่างจัดตารางคิว มุมมองบอร์ดแบบลาก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88" y="641319"/>
            <a:ext cx="5043424" cy="524516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583680" y="411480"/>
            <a:ext cx="4922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คิวรับ-ส่งสินค้า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583680" y="777240"/>
            <a:ext cx="4922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จัดตารางคิว</a:t>
            </a:r>
            <a:br>
              <a:rPr lang="en-US" sz="3200" b="1" dirty="0">
                <a:solidFill>
                  <a:srgbClr val="0F2A1F"/>
                </a:solidFill>
              </a:rPr>
            </a:br>
            <a:r>
              <a:rPr lang="en-US" sz="3200" b="1" dirty="0">
                <a:solidFill>
                  <a:srgbClr val="0F2A1F"/>
                </a:solidFill>
              </a:rPr>
              <a:t>เลื่อนวัน เวลา ท่า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2082800"/>
            <a:ext cx="49222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1.  เปิดรายละเอียดคิว กด จัดตารางคิว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2.  เลือกวัน จากแถบด้านบน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3.  แตะช่องว่าง หรือ ลากบล็อกไปท่าอื่น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4.  ตรวจสรุป แล้วกด บันทึก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583680" y="4927600"/>
            <a:ext cx="49222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4564C"/>
                </a:solidFill>
              </a:rPr>
              <a:t>ระบบไม่ให้ซ้อนคิวบนท่าเดียวกัน · ข้ามวัน = เลขคิวใหม่ แต่ DO และลิงก์คนขับเดิม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121089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แนวปฏิบัติ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เมื่อไม่เป็นไปตามนัด ทำอย่างไร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/>
        </p:nvGraphicFramePr>
        <p:xfrm>
          <a:off x="685800" y="1737360"/>
          <a:ext cx="10817352" cy="2844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กรณี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ระบบทำให้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เจ้าหน้าที่ทำ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รถมาช้า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เลยเวลาเผื่อ เป็น เลยเวลานัด แจ้งคนขับ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มาถึงแล้ว กด รถมาถึงแล้ว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รถไม่มา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เลยเวลาเผื่อ 2 เท่า เป็น ไม่มา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หรือกด ไม่มา เอง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เรียกแล้วไม่เข้า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เกินเวลาที่ตั้งไว้ ถือว่าไม่มา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เรียกซ้ำ / ยกเลิกการเรียก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ท่าล่าช้า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แจ้งคนขับ 1 ครั้ง ให้รอในลาน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เร่งปิดงานคิวที่ค้าง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ขอเลื่อน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ตรวจช่องใหม่ไม่ซ้อน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ใช้ จัดตารางคิว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ทะเบียนไม่ตรง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เก็บทั้งทะเบียนจอง และทะเบียนจริง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กด แก้ทะเบียน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SO ยังไม่ชำระ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คิวค้างที่ รอยืนยัน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แจ้งฝ่ายขาย บันทึกชำระ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88072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6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จอคิว · หน้าคนขับ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เรียกเข้าท่าแล้ว คนขับรู้ 2 ทาง</a:t>
            </a:r>
            <a:endParaRPr lang="en-US" sz="3200" dirty="0"/>
          </a:p>
        </p:txBody>
      </p:sp>
      <p:pic>
        <p:nvPicPr>
          <p:cNvPr id="4" name="Image 0" descr="จอ TV หน้าลาน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37360"/>
            <a:ext cx="6766560" cy="38039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1F"/>
                </a:solidFill>
              </a:rPr>
              <a:t>จอ TV หน้าลาน</a:t>
            </a:r>
            <a:r>
              <a:rPr lang="en-US" sz="1300" dirty="0">
                <a:solidFill>
                  <a:srgbClr val="44564C"/>
                </a:solidFill>
              </a:rPr>
              <a:t> · เมนู จอคิว มี URL แยกต่อสาขา · แตะจอ 1 ครั้งเพื่อเปิดเสียง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7955280" y="1737360"/>
            <a:ext cx="1965960" cy="3840480"/>
          </a:xfrm>
          <a:prstGeom prst="roundRect">
            <a:avLst>
              <a:gd name="adj" fmla="val 5581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7" name="Image 1" descr="หน้าคนขับ ถึงคิวแล้ว เชิญเข้าท่า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4748" y="1810512"/>
            <a:ext cx="1707024" cy="369417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058400" y="1783080"/>
            <a:ext cx="14474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2A1F"/>
                </a:solidFill>
              </a:rPr>
              <a:t>มือถือคนขับ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ลิงก์ ไม่ต้องล็อกอิน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1">
    <p:bg>
      <p:bgPr>
        <a:solidFill>
          <a:srgbClr val="002C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1168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DC32B"/>
                </a:solidFill>
              </a:rPr>
              <a:t>ช่วงที่ 4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06040"/>
            <a:ext cx="10820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rgbClr val="F4FAF6"/>
                </a:solidFill>
              </a:rPr>
              <a:t>ผู้จัดการ ผู้บริหาร และผู้ดูแลระบบ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977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AEDBC0"/>
                </a:solidFill>
              </a:rPr>
              <a:t>KPI คลัง · ส่งออกข้อมูล · พนักงานและสิทธิ์ · ก่อนเปิดใช้งาน</a:t>
            </a:r>
            <a:endParaRPr lang="en-US" sz="2000" dirty="0"/>
          </a:p>
        </p:txBody>
      </p:sp>
      <p:sp>
        <p:nvSpPr>
          <p:cNvPr id="5" name="Footer Rule"/>
          <p:cNvSpPr/>
          <p:nvPr/>
        </p:nvSpPr>
        <p:spPr>
          <a:xfrm>
            <a:off x="731520" y="6254496"/>
            <a:ext cx="10728929" cy="20116"/>
          </a:xfrm>
          <a:prstGeom prst="rect">
            <a:avLst/>
          </a:prstGeom>
          <a:solidFill>
            <a:srgbClr val="2F5A47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6" name="Footer Accent"/>
          <p:cNvSpPr/>
          <p:nvPr/>
        </p:nvSpPr>
        <p:spPr>
          <a:xfrm>
            <a:off x="731519" y="6254495"/>
            <a:ext cx="1375955" cy="45719"/>
          </a:xfrm>
          <a:prstGeom prst="rect">
            <a:avLst/>
          </a:prstGeom>
          <a:solidFill>
            <a:srgbClr val="ADC32B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8" name="Footer Company"/>
          <p:cNvSpPr txBox="1"/>
          <p:nvPr/>
        </p:nvSpPr>
        <p:spPr>
          <a:xfrm>
            <a:off x="1060704" y="645109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50" b="1" spc="40" dirty="0">
                <a:solidFill>
                  <a:srgbClr val="AEDBC0"/>
                </a:solidFill>
                <a:latin typeface="IBM Plex Sans Thai"/>
                <a:ea typeface="IBM Plex Sans Thai"/>
                <a:cs typeface="IBM Plex Sans Thai"/>
              </a:rPr>
              <a:t>Go Along Co., Ltd.</a:t>
            </a:r>
          </a:p>
        </p:txBody>
      </p:sp>
      <p:sp>
        <p:nvSpPr>
          <p:cNvPr id="9" name="Footer Page Number"/>
          <p:cNvSpPr txBox="1"/>
          <p:nvPr/>
        </p:nvSpPr>
        <p:spPr>
          <a:xfrm>
            <a:off x="9997409" y="6451092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fld id="{6F1C2A3B-9D4E-4B8A-A1C2-3E5F7A9B0C11}" type="slidenum">
              <a:rPr lang="en-US" sz="950" b="1" spc="40" dirty="0">
                <a:solidFill>
                  <a:srgbClr val="8FA89B"/>
                </a:solidFill>
                <a:latin typeface="IBM Plex Sans Thai"/>
                <a:ea typeface="IBM Plex Sans Thai"/>
                <a:cs typeface="IBM Plex Sans Thai"/>
              </a:rPr>
              <a:t>21</a:t>
            </a:fld>
            <a:endParaRPr lang="en-US" sz="950" b="1" spc="40" dirty="0">
              <a:solidFill>
                <a:srgbClr val="8FA89B"/>
              </a:solidFill>
              <a:latin typeface="IBM Plex Sans Thai"/>
              <a:ea typeface="IBM Plex Sans Thai"/>
              <a:cs typeface="IBM Plex Sans Thai"/>
            </a:endParaRPr>
          </a:p>
        </p:txBody>
      </p:sp>
      <p:pic>
        <p:nvPicPr>
          <p:cNvPr id="10" name="Copied Picture 10" descr="logo_goalong.png">
            <a:extLst>
              <a:ext uri="{FF2B5EF4-FFF2-40B4-BE49-F238E27FC236}">
                <a16:creationId xmlns:a16="http://schemas.microsoft.com/office/drawing/2014/main" id="{2DEA5F1B-9994-DFF5-AE5D-61959013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54648"/>
            <a:ext cx="237744" cy="16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1344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แดชบอร์ด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KPI คลัง อ่านอย่างไร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6949440" cy="4343400"/>
          </a:xfrm>
          <a:prstGeom prst="roundRect">
            <a:avLst>
              <a:gd name="adj" fmla="val 2526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5" name="Image 0" descr="แดชบอร์ด KPI คลัง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" y="1810512"/>
            <a:ext cx="6715354" cy="41970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01000" y="1783080"/>
            <a:ext cx="3504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เวลาที่ท่า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2167128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เริ่มขึ้น/ลงของ ถึงปิดงาน เทียบแผน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2862072"/>
            <a:ext cx="3504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คิวล่าช้า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3246120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แยก คลังเริ่มช้า กับ รถมาสาย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3941064"/>
            <a:ext cx="3504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เวลารวมในคลัง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001000" y="432511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รอในลาน · ตอบรับการเรียก · ขึ้น/ลงของ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5020056"/>
            <a:ext cx="3504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Export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5404104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4564C"/>
                </a:solidFill>
              </a:rPr>
              <a:t>Excel หรือ CSV ตามตัวกรองที่เลือก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ผู้ดูแลระบบ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พนักงาน </a:t>
            </a:r>
            <a:r>
              <a:rPr lang="en-US" sz="3200" b="1" dirty="0" err="1">
                <a:solidFill>
                  <a:srgbClr val="0F2A1F"/>
                </a:solidFill>
              </a:rPr>
              <a:t>และสิทธิ์</a:t>
            </a:r>
            <a:r>
              <a:rPr lang="th-TH" sz="3200" b="1" dirty="0">
                <a:solidFill>
                  <a:srgbClr val="0F2A1F"/>
                </a:solidFill>
              </a:rPr>
              <a:t>การใช้งาน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6949440" cy="4343400"/>
          </a:xfrm>
          <a:prstGeom prst="roundRect">
            <a:avLst>
              <a:gd name="adj" fmla="val 2526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5" name="Image 0" descr="หน้าพนักงาน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" y="1810512"/>
            <a:ext cx="6715354" cy="419709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/>
        </p:nvGraphicFramePr>
        <p:xfrm>
          <a:off x="8001000" y="1737360"/>
          <a:ext cx="3502152" cy="17018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ระดับ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ใช้กับ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admin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ผู้ดูแลระบบ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manager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ผู้จัดการคลัง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staff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ขาย จัดซื้อ แอดมินคลัง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viewer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ผู้บริหาร (ดูอย่างเดียว)</a:t>
                      </a:r>
                      <a:endParaRPr lang="en-US" sz="14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80880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ผู้ดูแลระบบ · ผู้จัดการคลัง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ตรวจ 9 ข้อ ก่อนเปิดใช้งานจริง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6400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1.  ข้อมูลคลัง: ชื่อ ที่อยู่ เบอร์ โลโก้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2.  สาขา: รหัส พิกัด รัศมีเช็คอิน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3.  ประเภทรถ และ ท่ารับ–ส่งสินค้า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4.  เวลาทำการ และ วันหยุด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5.  ตั้งค่าระบบคิว: เวลาเผื่อ เรียกอัตโนมัติ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6.  สิทธิ์และเมนู ของแต่ละบทบาท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7.  พนักงาน: ทุกคนตั้งรหัสผ่านแล้ว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8.  LINE OA และ ERP (ถ้าใช้)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9.  ทดสอบ 1 รอบ: SO ถึง ปิดงาน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80960" y="1783080"/>
            <a:ext cx="3824935" cy="2468880"/>
          </a:xfrm>
          <a:prstGeom prst="roundRect">
            <a:avLst>
              <a:gd name="adj" fmla="val 4444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 txBox="1"/>
          <p:nvPr/>
        </p:nvSpPr>
        <p:spPr>
          <a:xfrm>
            <a:off x="7909560" y="1920240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ความปลอดภัย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909560" y="2423160"/>
            <a:ext cx="336773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564C"/>
                </a:solidFill>
              </a:rPr>
              <a:t>บัญชีของตัวเอง ไม่ใช้ร่วม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564C"/>
                </a:solidFill>
              </a:rPr>
              <a:t>ห้ามส่งต่ออีเมลเชิญ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564C"/>
                </a:solidFill>
              </a:rPr>
              <a:t>คนพ้นหน้าที่ ปิดบัญชีทันที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4564C"/>
                </a:solidFill>
              </a:rPr>
              <a:t>ให้สิทธิ์เท่าที่จำเป็น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80960" y="4480560"/>
            <a:ext cx="3824935" cy="1554480"/>
          </a:xfrm>
          <a:prstGeom prst="roundRect">
            <a:avLst>
              <a:gd name="adj" fmla="val 7059"/>
            </a:avLst>
          </a:prstGeom>
          <a:solidFill>
            <a:srgbClr val="002C1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 txBox="1"/>
          <p:nvPr/>
        </p:nvSpPr>
        <p:spPr>
          <a:xfrm>
            <a:off x="7909560" y="4617720"/>
            <a:ext cx="33677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ADC32B"/>
                </a:solidFill>
              </a:rPr>
              <a:t>ประวัติการใช้งาน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7F3EC"/>
                </a:solidFill>
              </a:rPr>
              <a:t>ทุกการเพิ่ม แก้ ลบ ถูกบันทึก ตรวจย้อนหลังได้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5">
    <p:bg>
      <p:bgPr>
        <a:solidFill>
          <a:srgbClr val="002C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1168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DC32B"/>
                </a:solidFill>
              </a:rPr>
              <a:t>ช่วงที่ 5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06040"/>
            <a:ext cx="10820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rgbClr val="F4FAF6"/>
                </a:solidFill>
              </a:rPr>
              <a:t>LINE OA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977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AEDBC0"/>
                </a:solidFill>
              </a:rPr>
              <a:t>แจ้งเตือนคู่ค้าและคนขับ · กลุ่ม WMS ของทีมคลัง</a:t>
            </a:r>
            <a:endParaRPr lang="en-US" sz="2000" dirty="0"/>
          </a:p>
        </p:txBody>
      </p:sp>
      <p:sp>
        <p:nvSpPr>
          <p:cNvPr id="5" name="Footer Rule"/>
          <p:cNvSpPr/>
          <p:nvPr/>
        </p:nvSpPr>
        <p:spPr>
          <a:xfrm>
            <a:off x="731520" y="6254496"/>
            <a:ext cx="10728929" cy="20116"/>
          </a:xfrm>
          <a:prstGeom prst="rect">
            <a:avLst/>
          </a:prstGeom>
          <a:solidFill>
            <a:srgbClr val="2F5A47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6" name="Footer Accent"/>
          <p:cNvSpPr/>
          <p:nvPr/>
        </p:nvSpPr>
        <p:spPr>
          <a:xfrm>
            <a:off x="731519" y="6254495"/>
            <a:ext cx="1375955" cy="45719"/>
          </a:xfrm>
          <a:prstGeom prst="rect">
            <a:avLst/>
          </a:prstGeom>
          <a:solidFill>
            <a:srgbClr val="ADC32B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8" name="Footer Company"/>
          <p:cNvSpPr txBox="1"/>
          <p:nvPr/>
        </p:nvSpPr>
        <p:spPr>
          <a:xfrm>
            <a:off x="1060704" y="645109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50" b="1" spc="40" dirty="0">
                <a:solidFill>
                  <a:srgbClr val="AEDBC0"/>
                </a:solidFill>
                <a:latin typeface="IBM Plex Sans Thai"/>
                <a:ea typeface="IBM Plex Sans Thai"/>
                <a:cs typeface="IBM Plex Sans Thai"/>
              </a:rPr>
              <a:t>Go Along Co., Ltd.</a:t>
            </a:r>
          </a:p>
        </p:txBody>
      </p:sp>
      <p:sp>
        <p:nvSpPr>
          <p:cNvPr id="9" name="Footer Page Number"/>
          <p:cNvSpPr txBox="1"/>
          <p:nvPr/>
        </p:nvSpPr>
        <p:spPr>
          <a:xfrm>
            <a:off x="9997409" y="6451092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fld id="{6F1C2A3B-9D4E-4B8A-A1C2-3E5F7A9B0C11}" type="slidenum">
              <a:rPr lang="en-US" sz="950" b="1" spc="40" dirty="0">
                <a:solidFill>
                  <a:srgbClr val="8FA89B"/>
                </a:solidFill>
                <a:latin typeface="IBM Plex Sans Thai"/>
                <a:ea typeface="IBM Plex Sans Thai"/>
                <a:cs typeface="IBM Plex Sans Thai"/>
              </a:rPr>
              <a:t>25</a:t>
            </a:fld>
            <a:endParaRPr lang="en-US" sz="950" b="1" spc="40" dirty="0">
              <a:solidFill>
                <a:srgbClr val="8FA89B"/>
              </a:solidFill>
              <a:latin typeface="IBM Plex Sans Thai"/>
              <a:ea typeface="IBM Plex Sans Thai"/>
              <a:cs typeface="IBM Plex Sans Thai"/>
            </a:endParaRPr>
          </a:p>
        </p:txBody>
      </p:sp>
      <p:pic>
        <p:nvPicPr>
          <p:cNvPr id="10" name="Copied Picture 10" descr="logo_goalong.png">
            <a:extLst>
              <a:ext uri="{FF2B5EF4-FFF2-40B4-BE49-F238E27FC236}">
                <a16:creationId xmlns:a16="http://schemas.microsoft.com/office/drawing/2014/main" id="{2DEA5F1B-9994-DFF5-AE5D-61959013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54648"/>
            <a:ext cx="237744" cy="16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78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6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2806699" cy="5613400"/>
          </a:xfrm>
          <a:prstGeom prst="roundRect">
            <a:avLst>
              <a:gd name="adj" fmla="val 3692"/>
            </a:avLst>
          </a:prstGeom>
          <a:solidFill>
            <a:srgbClr val="8FA9D3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3" name="Image 0" descr="การ์ด LINE ยืนยันคิวรับสินค้าแล้ว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88" y="663800"/>
            <a:ext cx="2668523" cy="5200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886200" y="457200"/>
            <a:ext cx="2806699" cy="5613400"/>
          </a:xfrm>
          <a:prstGeom prst="roundRect">
            <a:avLst>
              <a:gd name="adj" fmla="val 3692"/>
            </a:avLst>
          </a:prstGeom>
          <a:solidFill>
            <a:srgbClr val="8FA9D3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5" name="Image 1" descr="เมนู LINE คิวของฉัน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5288" y="663800"/>
            <a:ext cx="2668523" cy="5200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15200" y="411480"/>
            <a:ext cx="4190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LINE OA · คู่ค้า และคนขับ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7315200" y="777240"/>
            <a:ext cx="4190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แจ้งเตือนอัตโนมัติ ทุกครั้งที่คิวเปลี่ยน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7315200" y="2103120"/>
            <a:ext cx="41906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1.  เพิ่มเพื่อน OA @307ghkbr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2.  เปิดลิงก์จอง ผ่าน LINE 1 ครั้ง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3.  รับการ์ด: รับคำขอ · ยืนยัน + DO · ถึงคิว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271E"/>
                </a:solidFill>
              </a:rPr>
              <a:t>4.  เมนู: คิวของฉัน · สถานะ SO · ติดต่อคลัง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315200" y="5120640"/>
            <a:ext cx="4190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564C"/>
                </a:solidFill>
              </a:rPr>
              <a:t>OA ตอบอัตโนมัติ ไม่มีคนอ่านแชท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2849879" cy="5613400"/>
          </a:xfrm>
          <a:prstGeom prst="roundRect">
            <a:avLst>
              <a:gd name="adj" fmla="val 3636"/>
            </a:avLst>
          </a:prstGeom>
          <a:solidFill>
            <a:srgbClr val="8FA9D3"/>
          </a:solidFill>
          <a:ln w="9525">
            <a:solidFill>
              <a:srgbClr val="D3DDD5"/>
            </a:solidFill>
            <a:prstDash val="solid"/>
          </a:ln>
          <a:effectLst>
            <a:outerShdw blurRad="127000" dist="38100" dir="5400000" algn="bl" rotWithShape="0">
              <a:srgbClr val="0F2A1F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pic>
        <p:nvPicPr>
          <p:cNvPr id="3" name="Image 0" descr="กลุ่ม LINE WMS ของทีมคลัง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05" y="526288"/>
            <a:ext cx="2604070" cy="54752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206240" y="411480"/>
            <a:ext cx="7299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LINE · ทีมคลัง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777240"/>
            <a:ext cx="7299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กลุ่ม WMS รู้ทันที ไม่ต้องเปิดระบบค้าง</a:t>
            </a:r>
            <a:endParaRPr lang="en-US" sz="3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/>
        </p:nvGraphicFramePr>
        <p:xfrm>
          <a:off x="4206240" y="1828800"/>
          <a:ext cx="7299655" cy="24892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0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ข้อความ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F2A1F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ทีมหน้างานทำ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คิวใหม่รอยืนยัน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ตรวจ แล้วอนุมัติ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SO ชำระแล้ว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อนุมัติคิวที่ค้างได้เลย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รถมาถึง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เตรียมท่า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เรียกอัตโนมัติ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รับรถเข้าท่า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เลยเวลานัด / ไม่มา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โทรตามคนขับ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ทะเบียนไม่ตรง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71E"/>
                          </a:solidFill>
                          <a:latin typeface="IBM Plex Sans Thai" pitchFamily="34" charset="0"/>
                          <a:ea typeface="IBM Plex Sans Thai" pitchFamily="34" charset="-122"/>
                          <a:cs typeface="IBM Plex Sans Thai" pitchFamily="34" charset="-120"/>
                        </a:rPr>
                        <a:t>ตรวจรถที่ประตู</a:t>
                      </a:r>
                      <a:endParaRPr lang="en-US" sz="1500" dirty="0">
                        <a:latin typeface="IBM Plex Sans Thai" charset="0"/>
                        <a:ea typeface="IBM Plex Sans Thai" charset="0"/>
                        <a:cs typeface="IBM Plex Sans Tha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38816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B7A47"/>
                </a:solidFill>
              </a:rPr>
              <a:t>ฝึกปฏิบัติ 30 นาที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F2A1F"/>
                </a:solidFill>
              </a:rPr>
              <a:t>ทำ 1 คิวจริง ส่งไม้ต่อกันทั้งห้อง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2499284" cy="3108960"/>
          </a:xfrm>
          <a:prstGeom prst="roundRect">
            <a:avLst>
              <a:gd name="adj" fmla="val 4390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914400" y="2029968"/>
            <a:ext cx="201168" cy="201168"/>
          </a:xfrm>
          <a:prstGeom prst="ellipse">
            <a:avLst/>
          </a:prstGeom>
          <a:solidFill>
            <a:srgbClr val="0B7A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 txBox="1"/>
          <p:nvPr/>
        </p:nvSpPr>
        <p:spPr>
          <a:xfrm>
            <a:off x="1234440" y="1901952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ฝ่ายขาย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14600"/>
            <a:ext cx="20420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คีย์ SO-TEST ยังไม่ชำระ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ส่งลิงก์ให้เพื่อน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บันทึกชำระแล้ว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59404" y="1783080"/>
            <a:ext cx="2499284" cy="3108960"/>
          </a:xfrm>
          <a:prstGeom prst="roundRect">
            <a:avLst>
              <a:gd name="adj" fmla="val 4390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88004" y="2029968"/>
            <a:ext cx="201168" cy="201168"/>
          </a:xfrm>
          <a:prstGeom prst="ellipse">
            <a:avLst/>
          </a:prstGeom>
          <a:solidFill>
            <a:srgbClr val="2563C9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 txBox="1"/>
          <p:nvPr/>
        </p:nvSpPr>
        <p:spPr>
          <a:xfrm>
            <a:off x="4008044" y="1901952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ลูกค้า (สมมติ)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688004" y="2514600"/>
            <a:ext cx="20420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เปิดลิงก์ผ่าน 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จองคิว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เปลี่ยนทะเบียนรถ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33008" y="1783080"/>
            <a:ext cx="2499284" cy="3108960"/>
          </a:xfrm>
          <a:prstGeom prst="roundRect">
            <a:avLst>
              <a:gd name="adj" fmla="val 4390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6461608" y="2029968"/>
            <a:ext cx="201168" cy="201168"/>
          </a:xfrm>
          <a:prstGeom prst="ellipse">
            <a:avLst/>
          </a:prstGeom>
          <a:solidFill>
            <a:srgbClr val="7E3AA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 txBox="1"/>
          <p:nvPr/>
        </p:nvSpPr>
        <p:spPr>
          <a:xfrm>
            <a:off x="6781648" y="1901952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ทีมคลัง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61608" y="2514600"/>
            <a:ext cx="20420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อนุมัติ + 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เช็คอิน · เรียกเข้าท่า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ปิดงาน + ลงชื่อ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006611" y="1783080"/>
            <a:ext cx="2499284" cy="3108960"/>
          </a:xfrm>
          <a:prstGeom prst="roundRect">
            <a:avLst>
              <a:gd name="adj" fmla="val 4390"/>
            </a:avLst>
          </a:prstGeom>
          <a:solidFill>
            <a:srgbClr val="FBFCFA"/>
          </a:solidFill>
          <a:ln w="9525">
            <a:solidFill>
              <a:srgbClr val="D3DDD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9235211" y="2029968"/>
            <a:ext cx="201168" cy="201168"/>
          </a:xfrm>
          <a:prstGeom prst="ellipse">
            <a:avLst/>
          </a:prstGeom>
          <a:solidFill>
            <a:srgbClr val="D08A1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 txBox="1"/>
          <p:nvPr/>
        </p:nvSpPr>
        <p:spPr>
          <a:xfrm>
            <a:off x="9555251" y="1901952"/>
            <a:ext cx="1722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1F"/>
                </a:solidFill>
              </a:rPr>
              <a:t>ผู้จัดการ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235211" y="2514600"/>
            <a:ext cx="20420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ดูคิวบนแดชบอร์ด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Export Excel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4564C"/>
                </a:solidFill>
              </a:rPr>
              <a:t>ลองทำ Walk-in 1 คัน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52578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4564C"/>
                </a:solidFill>
              </a:rPr>
              <a:t>สังเกตระหว่างทำ: กลุ่ม WMS · จอ TV · การ์ด LINE ของลูกค้า ขึ้นตามลำดับหรือไม่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9">
    <p:bg>
      <p:bgPr>
        <a:solidFill>
          <a:srgbClr val="002C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73152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DC32B"/>
                </a:solidFill>
              </a:rPr>
              <a:t>เจอปัญหา ทำอย่างไร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25880"/>
            <a:ext cx="108200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4FAF6"/>
                </a:solidFill>
              </a:rPr>
              <a:t>กดปุ่มวงกลมสีเขียว มุมซ้ายล่าง ทุกหน้า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3108960"/>
            <a:ext cx="3362858" cy="1828800"/>
          </a:xfrm>
          <a:prstGeom prst="roundRect">
            <a:avLst>
              <a:gd name="adj" fmla="val 6000"/>
            </a:avLst>
          </a:prstGeom>
          <a:solidFill>
            <a:srgbClr val="0C3A2A"/>
          </a:solidFill>
          <a:ln w="12700">
            <a:solidFill>
              <a:srgbClr val="2E5C4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 txBox="1"/>
          <p:nvPr/>
        </p:nvSpPr>
        <p:spPr>
          <a:xfrm>
            <a:off x="960120" y="3246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EDBC0"/>
                </a:solidFill>
              </a:rPr>
              <a:t>แจ้งปัญหา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749040"/>
            <a:ext cx="28142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7F3EC"/>
                </a:solidFill>
              </a:rPr>
              <a:t>ระบบแนบภาพหน้าจอให้เอง เขียนว่าทำอะไร แล้วเกิดอะไร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4418" y="3108960"/>
            <a:ext cx="3362858" cy="1828800"/>
          </a:xfrm>
          <a:prstGeom prst="roundRect">
            <a:avLst>
              <a:gd name="adj" fmla="val 6000"/>
            </a:avLst>
          </a:prstGeom>
          <a:solidFill>
            <a:srgbClr val="0C3A2A"/>
          </a:solidFill>
          <a:ln w="12700">
            <a:solidFill>
              <a:srgbClr val="2E5C4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 txBox="1"/>
          <p:nvPr/>
        </p:nvSpPr>
        <p:spPr>
          <a:xfrm>
            <a:off x="4688738" y="3246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EDBC0"/>
                </a:solidFill>
              </a:rPr>
              <a:t>คู่มือ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88738" y="3749040"/>
            <a:ext cx="28142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7F3EC"/>
                </a:solidFill>
              </a:rPr>
              <a:t>PDF 7 เล่ม แยกตามบทบาท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43037" y="3108960"/>
            <a:ext cx="3362858" cy="1828800"/>
          </a:xfrm>
          <a:prstGeom prst="roundRect">
            <a:avLst>
              <a:gd name="adj" fmla="val 6000"/>
            </a:avLst>
          </a:prstGeom>
          <a:solidFill>
            <a:srgbClr val="0C3A2A"/>
          </a:solidFill>
          <a:ln w="12700">
            <a:solidFill>
              <a:srgbClr val="2E5C4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 txBox="1"/>
          <p:nvPr/>
        </p:nvSpPr>
        <p:spPr>
          <a:xfrm>
            <a:off x="8417357" y="3246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EDBC0"/>
                </a:solidFill>
              </a:rPr>
              <a:t>ติดต่อทีม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17357" y="3749040"/>
            <a:ext cx="28142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7F3EC"/>
                </a:solidFill>
              </a:rPr>
              <a:t>[ชื่อผู้ประสานงาน] · [LINE / เบอร์โทร]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48640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4FAF6"/>
                </a:solidFill>
              </a:rPr>
              <a:t>ถาม–ตอบ</a:t>
            </a:r>
            <a:endParaRPr lang="en-US" sz="2600" dirty="0"/>
          </a:p>
        </p:txBody>
      </p:sp>
      <p:sp>
        <p:nvSpPr>
          <p:cNvPr id="14" name="Footer Rule"/>
          <p:cNvSpPr/>
          <p:nvPr/>
        </p:nvSpPr>
        <p:spPr>
          <a:xfrm>
            <a:off x="731520" y="6254496"/>
            <a:ext cx="10728929" cy="20116"/>
          </a:xfrm>
          <a:prstGeom prst="rect">
            <a:avLst/>
          </a:prstGeom>
          <a:solidFill>
            <a:srgbClr val="2F5A47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15" name="Footer Accent"/>
          <p:cNvSpPr/>
          <p:nvPr/>
        </p:nvSpPr>
        <p:spPr>
          <a:xfrm>
            <a:off x="731519" y="6254495"/>
            <a:ext cx="1375955" cy="45719"/>
          </a:xfrm>
          <a:prstGeom prst="rect">
            <a:avLst/>
          </a:prstGeom>
          <a:solidFill>
            <a:srgbClr val="ADC32B"/>
          </a:solidFill>
          <a:ln>
            <a:noFill/>
          </a:ln>
        </p:spPr>
        <p:txBody>
          <a:bodyPr/>
          <a:lstStyle/>
          <a:p>
            <a:endParaRPr lang="en-TH"/>
          </a:p>
        </p:txBody>
      </p:sp>
      <p:sp>
        <p:nvSpPr>
          <p:cNvPr id="17" name="Footer Company"/>
          <p:cNvSpPr txBox="1"/>
          <p:nvPr/>
        </p:nvSpPr>
        <p:spPr>
          <a:xfrm>
            <a:off x="1060704" y="645109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50" b="1" spc="40" dirty="0">
                <a:solidFill>
                  <a:srgbClr val="AEDBC0"/>
                </a:solidFill>
                <a:latin typeface="IBM Plex Sans Thai"/>
                <a:ea typeface="IBM Plex Sans Thai"/>
                <a:cs typeface="IBM Plex Sans Thai"/>
              </a:rPr>
              <a:t>Go Along Co., Ltd.</a:t>
            </a:r>
          </a:p>
        </p:txBody>
      </p:sp>
      <p:sp>
        <p:nvSpPr>
          <p:cNvPr id="18" name="Footer Page Number"/>
          <p:cNvSpPr txBox="1"/>
          <p:nvPr/>
        </p:nvSpPr>
        <p:spPr>
          <a:xfrm>
            <a:off x="9997409" y="6451092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fld id="{6F1C2A3B-9D4E-4B8A-A1C2-3E5F7A9B0C11}" type="slidenum">
              <a:rPr lang="en-US" sz="950" b="1" spc="40" dirty="0">
                <a:solidFill>
                  <a:srgbClr val="8FA89B"/>
                </a:solidFill>
                <a:latin typeface="IBM Plex Sans Thai"/>
                <a:ea typeface="IBM Plex Sans Thai"/>
                <a:cs typeface="IBM Plex Sans Thai"/>
              </a:rPr>
              <a:t>29</a:t>
            </a:fld>
            <a:endParaRPr lang="en-US" sz="950" b="1" spc="40" dirty="0">
              <a:solidFill>
                <a:srgbClr val="8FA89B"/>
              </a:solidFill>
              <a:latin typeface="IBM Plex Sans Thai"/>
              <a:ea typeface="IBM Plex Sans Thai"/>
              <a:cs typeface="IBM Plex Sans Thai"/>
            </a:endParaRPr>
          </a:p>
        </p:txBody>
      </p:sp>
      <p:pic>
        <p:nvPicPr>
          <p:cNvPr id="19" name="Copied Picture 19" descr="logo_goalong.png">
            <a:extLst>
              <a:ext uri="{FF2B5EF4-FFF2-40B4-BE49-F238E27FC236}">
                <a16:creationId xmlns:a16="http://schemas.microsoft.com/office/drawing/2014/main" id="{2DEA5F1B-9994-DFF5-AE5D-61959013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54648"/>
            <a:ext cx="237744" cy="16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211168"/>
      </p:ext>
    </p:extLst>
  </p:cSld>
  <p:clrMapOvr>
    <a:masterClrMapping/>
  </p:clrMapOvr>
</p:sld>
</file>

<file path=ppt/theme/theme1.xml><?xml version="1.0" encoding="utf-8"?>
<a:theme xmlns:a="http://schemas.openxmlformats.org/drawingml/2006/main" name="Fameline [1792054786296]">
  <a:themeElements>
    <a:clrScheme name="Fameline">
      <a:dk1>
        <a:srgbClr val="14271E"/>
      </a:dk1>
      <a:lt1>
        <a:srgbClr val="FBFCFA"/>
      </a:lt1>
      <a:dk2>
        <a:srgbClr val="002C1F"/>
      </a:dk2>
      <a:lt2>
        <a:srgbClr val="F3F6F1"/>
      </a:lt2>
      <a:accent1>
        <a:srgbClr val="0B7A47"/>
      </a:accent1>
      <a:accent2>
        <a:srgbClr val="ADC32B"/>
      </a:accent2>
      <a:accent3>
        <a:srgbClr val="AEDBC0"/>
      </a:accent3>
      <a:accent4>
        <a:srgbClr val="2563C9"/>
      </a:accent4>
      <a:accent5>
        <a:srgbClr val="D08A12"/>
      </a:accent5>
      <a:accent6>
        <a:srgbClr val="7E3AA8"/>
      </a:accent6>
      <a:hlink>
        <a:srgbClr val="0B7A47"/>
      </a:hlink>
      <a:folHlink>
        <a:srgbClr val="44564C"/>
      </a:folHlink>
    </a:clrScheme>
    <a:fontScheme name="Fameline">
      <a:majorFont>
        <a:latin typeface="IBM Plex Sans Thai"/>
        <a:ea typeface=""/>
        <a:cs typeface="IBM Plex Sans Thai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IBM Plex Sans Thai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Thai"/>
        <a:ea typeface=""/>
        <a:cs typeface="IBM Plex Sans Thai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IBM Plex Sans Thai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62D2A-8241-8842-86DF-DDB052F28E63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f87ed18-0ace-4803-9710-84806c9cc44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2097</TotalTime>
  <Words>3200</Words>
  <Application>Microsoft Macintosh PowerPoint</Application>
  <PresentationFormat>Widescreen</PresentationFormat>
  <Paragraphs>414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IBM Plex Sans Thai</vt:lpstr>
      <vt:lpstr>Fameline [1792054786296]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GoAlong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อบรมระบบคิวหน้าคลัง Fameline</dc:title>
  <dc:subject>PptxGenJS Presentation</dc:subject>
  <dc:creator>GoAlong</dc:creator>
  <cp:lastModifiedBy>amnart kongpet</cp:lastModifiedBy>
  <cp:revision>12</cp:revision>
  <dcterms:created xsi:type="dcterms:W3CDTF">2026-10-13T07:19:06Z</dcterms:created>
  <dcterms:modified xsi:type="dcterms:W3CDTF">2026-10-15T12:14:31Z</dcterms:modified>
</cp:coreProperties>
</file>